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5033" autoAdjust="0"/>
  </p:normalViewPr>
  <p:slideViewPr>
    <p:cSldViewPr snapToGrid="0" snapToObjects="1">
      <p:cViewPr>
        <p:scale>
          <a:sx n="74" d="100"/>
          <a:sy n="74" d="100"/>
        </p:scale>
        <p:origin x="1013" y="2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4957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being here. My name is Raj Subedi. I am a PhD student in epidemiology at Georgia State University, and this is joint work with my advisor, Dr. Gerardo Chowell. The title of my talk is "A Joint Calibration–Forecast Weighting Scheme for Ensemble Forecasting of Outbreak Trajectories." Our abstract mentions measles, but today I will use a simulated Ebola outbreak. The concept and the steps are exactly the same, and the shape of this outbreak — growth, a clear peak, and a long decline — makes the weighting question easy to see. I will spend about fifteen minutes on the idea, the pipeline, and the results, and then leave time for discussion. If time permits, I will also walk through the code, which is on GitHub at the link on the screen.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the question. When we forecast an epidemic, we often fit several simple growth models and combine them into an ensemble, because ensembles usually forecast better than any single model. The open question is how much weight each model should get. The standard approach, on the left, is calibration-only weighting. Each model gets a weight proportional to one over its weighted interval score on the calibration window. The weighted interval score, or WIS, rewards prediction intervals that are sharp but still cover the data, and lower is better. The problem is that this rewards how well a model fits data it has already seen, and a good fit does not guarantee a good forecast. Our proposal, on the right, is joint calibration–forecast weighting, or JCF. It also rewards how well each model actually forecast in the previous window — evidence we already have when we issue the next forecast. A single parameter, lambda, controls the blend.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three phenomenological growth models. Here, C of t is the cumulative number of cases, and we fit the models to incidence, C prime of t. The first is the generalized logistic model. The parameter p scales early growth from sub-exponential to exponential, and when p equals one it reduces to the classic logistic model. So the logistic model in our abstract is included as a special case. The second is the Richards model, where the parameter a controls how asymmetric the epidemic curve is around its peak. The third is the Gompertz model, where the growth rate decays exponentially in time and there is no explicit final size. All three are fitted by least squares with normal errors, using twenty starting points for the optimizer. To quantify uncertainty, we use a parametric bootstrap. We simulate new data around the best fit, refit three hundred times in every window, and use the spread of those trajectories to build ninety-five percent prediction intervals.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dataset: a simulated Ebola outbreak, forty-five weeks long, with five thousand seven hundred sixty-five cases in total. It peaks at week twenty-three with three hundred fifty-nine cases, shown by the dashed line. Below the curve are our five rolling windows. Each window calibrates on twenty weeks, shown in blue, and then forecasts four weeks ahead, shown in orange. Each new window starts four weeks after the previous one. Notice window two. Its calibration ends exactly at the peak, so it has to forecast the first weeks of decline without having seen any sign of the turn. Windows three to five are all in the decline. One design rule matters for JCF: the forecast horizon must be no longer than the shift between windows. That guarantees that each window's forecast has been fully observed before the next window is issued, so JCF never uses information from the future.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analysis is a seven-step pipeline, and each step is a single MATLAB command. Step one fits the three models in all five windows, with three hundred bootstrap refits each. This is the slow step. Step two collects the metrics — mean absolute error, mean squared error, coverage, WIS, and AICc — for every model and window. Step three builds the baseline ensemble with calibration-only weights and a linear pool, and step four plots it. Step five runs JCF for six values of lambda, step six compares all the schemes, and step seven makes the JCF figures. An important practical point: both inputs that JCF needs come out of step two. So trying a new weighting scheme only means re-running steps five to seven, which takes seconds. We also have a built-in check. With lambda equal to one, JCF is algebraically the same as calibration-only weighting, and it reproduces step three exactly, to the last digit.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JCF rule. For model i in window w, we compute a score. The score is lambda times the model's calibration WIS in the current window, plus one minus lambda times the model's forecast WIS in the previous window. The weight is one over that score, normalized so that the weights sum to one. The members are then combined by a weighted linear pool, which is a mixture of their bootstrap trajectories. Lambda is the only tuning parameter. Lambda equal to one gives the calibration-only baseline. Lambda equal to zero uses only the previous forecast score. Lambda equal to C over C plus H, which is zero point eight three three here, weights every observed point equally. And because window one has no previous forecast, it is identical to the baseline by construction. So only windows two to five can tell us whether JCF helps.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look first at the individual models. This table shows the forecast WIS of each model in each window. Lower is better, and the best model in each window is in bold. Reading across the rows, the winner keeps changing. Gompertz is the best in window one, but it becomes clearly the worst in windows three to five. GLM is the best in window two, and Richards is the best during the decline. Window two is hard for every model: the WIS jumps between six and fourteen times compared with window one. On average, GLM is the best single model, with a mean WIS of thirty-three point four. One more observation: AICc and calibration WIS choose the same best model in every window. So calibration-only weights are really just rewarding in-sample fit. This is the classic argument for an ensemble: we do not know in advance which model will be right.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shows what goes wrong in window two. The dashed line is the end of calibration at week twenty-three, which is exactly the peak. Up to that point, the data show no sign of a turn, so all three models, and the ensemble, keep projecting growth. Meanwhile, the observed cases start to fall, from about three hundred fifty down to about two hundred forty. The coverage of the ninety-five percent intervals drops to fifty-two percent for GLM and Richards, and to zero for Gompertz. The lesson here is simple: an ensemble cannot fix a bias that all of its members share. This is the textbook weakness of phenomenological models at a turning point. Please keep this window in mind, because it is also where JCF's information from the previous window will mislead us.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calibration-only ensemble. Across all five windows, it has a mean WIS of thirty-one point nine, compared with thirty-three point four for GLM, the best single model. That is about four percent better. Its ninety-five percent prediction intervals cover eighty-seven and a half percent of the observations, compared with seventy-six to eighty-three percent for the individual models. And in windows four and five, it is eighteen to nineteen percent better than the best single model. To be fair, the ensemble is not the best in every window. In windows one to three, the best single model does slightly better. But over the whole outbreak, it has the lowest WIS and the best coverage, and it is never the worst. Over time, the weights move away from Gompertz, from about one third in window one down to about eighteen percent in window five.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does the ensemble win in the late windows? This is window five. To the right of the dashed line, GLM and Richards forecast a decline that is too fast, from about seventy cases down to thirty. Gompertz stays too high, at a little over two hundred. The observed cases, falling from one hundred forty-three to seventy-seven, sit in between. Because the members err in opposite directions, the mixture covers the truth. The ensemble WIS is thirty-two point nine, compared with forty point three for Richards, the best single model. Window four looks the same. The important lesson is that a model with a poor individual score — here, Gompertz — can still be valuable to the ensemble if it errs in the opposite direction from the others. This point will explain the JCF results.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JCF results. This table shows the mean forecast WIS for each value of lambda, over all windows and over windows two to five, which are the windows where JCF can differ. The honest result is that JCF does not beat calibration-only weighting on this outbreak. As lambda moves from one toward zero, the WIS increases slightly and steadily, from thirty-one point nine three to thirty-two point three four. But the largest difference is only one point three percent, and it comes from just four informative windows. So I would not call JCF harmful here either. The two schemes are essentially tied. The plot on the right shows the same thing: the curve is almost flat. The more interesting story is not in the averages, but in what happens window by window.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that, let me show that JCF is actually doing something. These stacked bars show the weight of each model in each window, for each value of lambda. At lambda equal to one, the weights drift smoothly. As lambda goes toward zero, they react to the previous window's forecast. Follow Gompertz, the yellow segment at the top. Under the baseline, its weight goes from zero point three four down to zero point one eight. Under lambda equal to zero, it rises to zero point four two in window two, because Gompertz forecast best in window one. It then drops to zero point one zero in window four, and rises again to zero point two four in window five. So the mechanism works: JCF adapts the weights as the epidemic turns. Whether those changes actually help is a separate question.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answers that question, window by window. The numbers are forecast WIS, and lower is better. Window one is identical by construction. In window two, JCF does worse. It rewarded Gompertz for forecasting well in window one, but window two is the turning point, where Gompertz did worst. Window three shows no real change. In window four, JCF is worse again, by ten percent at lambda equal to zero. It correctly cut the weight of Gompertz, the worst model, but Gompertz was the only member erring high, so removing it took away the spread that was covering the observations. In window five, the opposite happens. Gompertz's recent forecast was better than its fit, so JCF gave it more weight, and the pool moved toward the truth: six percent better. So there are two lessons. Past forecast skill is lagged information. And inverse-score weights cannot see which direction a model errs.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summarize with four lessons. First, the ensemble is the safer bet. It has the lowest overall WIS and the best coverage, and it is never the worst. Second, JCF adapts the weights as intended, but on this outbreak it ties calibration-only weighting, within about one percent. Third, past forecast skill is lagged information, and it misleads exactly at turning points, which is when good forecasts matter most. Fourth, inverse-score weights ignore the direction of the errors. A model that looks bad on its own can be the most useful member if it errs in the opposite direction from the others. If you remember one thing from this talk, it is this: weighting models by their scores is not the same as building a good mixture.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clear about the limitations. This is one simulated outbreak, and only four windows can show a JCF effect. Some parameters hit their bounds: the final size K before the peak, and the growth rate r in the late windows. Each window also restarts the cumulative count at its first observation. This probably hurts Gompertz the most, because its growth decays with time since the start of the window. And we used least squares with normal errors on count data. As next steps, we will apply the pipeline to the measles outbreak in Jalisco and to other outbreaks with more windows, use a negative binomial likelihood, choose lambda adaptively instead of fixing it, and explore weights that account for the direction of the errors, such as stacking. All the code, data, and results are in the AMS 2026 repository on GitHub. Thank you, and I am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13" y="1102258"/>
            <a:ext cx="10566523" cy="438024"/>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713" y="1845082"/>
            <a:ext cx="10566487" cy="4200118"/>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13" y="1102258"/>
            <a:ext cx="10566523" cy="438024"/>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713" y="1845082"/>
            <a:ext cx="10566487" cy="4200118"/>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rajsubediresearch/AMS-2026"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mailto:rsubedi1@gsu.edu"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hyperlink" Target="https://github.com/rajsubediresearch/AMS-2026" TargetMode="External"/><Relationship Id="rId4" Type="http://schemas.openxmlformats.org/officeDocument/2006/relationships/hyperlink" Target="mailto:rajkumarsubedi@gmai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713" y="812713"/>
            <a:ext cx="10883519" cy="274254"/>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E8935F"/>
                </a:solidFill>
                <a:latin typeface="Arial" pitchFamily="34" charset="0"/>
                <a:ea typeface="Arial" pitchFamily="34" charset="-122"/>
                <a:cs typeface="Arial" pitchFamily="34" charset="-120"/>
              </a:rPr>
              <a:t>AMS FALL 2026 SOUTHEASTERN SECTIONAL MEETING</a:t>
            </a:r>
            <a:endParaRPr lang="en-US" sz="1400" dirty="0"/>
          </a:p>
        </p:txBody>
      </p:sp>
      <p:sp>
        <p:nvSpPr>
          <p:cNvPr id="3" name="Text 1"/>
          <p:cNvSpPr>
            <a:spLocks noGrp="1"/>
          </p:cNvSpPr>
          <p:nvPr>
            <p:ph type="title"/>
          </p:nvPr>
        </p:nvSpPr>
        <p:spPr>
          <a:xfrm>
            <a:off x="812713" y="1315533"/>
            <a:ext cx="9810740" cy="2484095"/>
          </a:xfrm>
          <a:prstGeom prst="rect">
            <a:avLst/>
          </a:prstGeom>
          <a:noFill/>
          <a:ln/>
        </p:spPr>
        <p:txBody>
          <a:bodyPr wrap="square" lIns="0" tIns="0" rIns="0" bIns="0" rtlCol="0" anchor="t">
            <a:normAutofit/>
          </a:bodyPr>
          <a:lstStyle/>
          <a:p>
            <a:pPr marL="0" indent="0" algn="l">
              <a:lnSpc>
                <a:spcPts val="4840"/>
              </a:lnSpc>
              <a:buNone/>
            </a:pPr>
            <a:r>
              <a:rPr lang="en-US" sz="4400" b="1" i="0" dirty="0">
                <a:solidFill>
                  <a:srgbClr val="F6F5F0"/>
                </a:solidFill>
                <a:latin typeface="Georgia" pitchFamily="18" charset="0"/>
                <a:ea typeface="Georgia" pitchFamily="18" charset="-122"/>
                <a:cs typeface="Georgia" pitchFamily="18" charset="-120"/>
              </a:rPr>
              <a:t>A Joint Calibration–Forecast Weighting Scheme for Ensemble Forecasting of Outbreak Trajectories</a:t>
            </a:r>
            <a:endParaRPr lang="en-US" sz="4400" dirty="0"/>
          </a:p>
        </p:txBody>
      </p:sp>
      <p:sp>
        <p:nvSpPr>
          <p:cNvPr id="4" name="Text 2"/>
          <p:cNvSpPr/>
          <p:nvPr/>
        </p:nvSpPr>
        <p:spPr>
          <a:xfrm>
            <a:off x="812713" y="4028194"/>
            <a:ext cx="9156669" cy="345414"/>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FCBDA"/>
                </a:solidFill>
                <a:latin typeface="Arial" pitchFamily="34" charset="0"/>
                <a:ea typeface="Arial" pitchFamily="34" charset="-122"/>
                <a:cs typeface="Arial" pitchFamily="34" charset="-120"/>
              </a:rPr>
              <a:t>Concept, pipeline and a worked example on a simulated Ebola outbreak</a:t>
            </a:r>
            <a:endParaRPr lang="en-US" sz="1800" dirty="0"/>
          </a:p>
        </p:txBody>
      </p:sp>
      <p:sp>
        <p:nvSpPr>
          <p:cNvPr id="5" name="Text 3"/>
          <p:cNvSpPr/>
          <p:nvPr/>
        </p:nvSpPr>
        <p:spPr>
          <a:xfrm>
            <a:off x="812713" y="5143914"/>
            <a:ext cx="10883519" cy="327572"/>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F6F5F0"/>
                </a:solidFill>
                <a:latin typeface="Arial" pitchFamily="34" charset="0"/>
                <a:ea typeface="Arial" pitchFamily="34" charset="-122"/>
                <a:cs typeface="Arial" pitchFamily="34" charset="-120"/>
              </a:rPr>
              <a:t>Raj Subedi &amp; Gerardo Chowell</a:t>
            </a:r>
            <a:endParaRPr lang="en-US" sz="1700" dirty="0"/>
          </a:p>
        </p:txBody>
      </p:sp>
      <p:sp>
        <p:nvSpPr>
          <p:cNvPr id="6" name="Text 4"/>
          <p:cNvSpPr/>
          <p:nvPr/>
        </p:nvSpPr>
        <p:spPr>
          <a:xfrm>
            <a:off x="812713" y="5496796"/>
            <a:ext cx="10883519" cy="27425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BDA"/>
                </a:solidFill>
                <a:latin typeface="Arial" pitchFamily="34" charset="0"/>
                <a:ea typeface="Arial" pitchFamily="34" charset="-122"/>
                <a:cs typeface="Arial" pitchFamily="34" charset="-120"/>
              </a:rPr>
              <a:t>School of Public Health, Georgia State University</a:t>
            </a:r>
            <a:endParaRPr lang="en-US" sz="1400" dirty="0"/>
          </a:p>
        </p:txBody>
      </p:sp>
      <p:sp>
        <p:nvSpPr>
          <p:cNvPr id="7" name="Text 5"/>
          <p:cNvSpPr/>
          <p:nvPr/>
        </p:nvSpPr>
        <p:spPr>
          <a:xfrm>
            <a:off x="812713" y="5796359"/>
            <a:ext cx="10883519" cy="274254"/>
          </a:xfrm>
          <a:prstGeom prst="rect">
            <a:avLst/>
          </a:prstGeom>
          <a:noFill/>
          <a:ln/>
        </p:spPr>
        <p:txBody>
          <a:bodyPr wrap="square" lIns="0" tIns="0" rIns="0" bIns="0" rtlCol="0" anchor="t">
            <a:normAutofit/>
          </a:bodyPr>
          <a:lstStyle/>
          <a:p>
            <a:pPr>
              <a:lnSpc>
                <a:spcPts val="1960"/>
              </a:lnSpc>
            </a:pPr>
            <a:r>
              <a:rPr lang="en-US" sz="1400" dirty="0">
                <a:solidFill>
                  <a:srgbClr val="E8935F"/>
                </a:solidFill>
                <a:latin typeface="Arial" pitchFamily="34" charset="0"/>
                <a:ea typeface="Arial" pitchFamily="34" charset="-122"/>
                <a:cs typeface="Arial" pitchFamily="34" charset="-120"/>
              </a:rPr>
              <a:t>Code and results: </a:t>
            </a:r>
            <a:r>
              <a:rPr lang="en-US" sz="1400" dirty="0">
                <a:solidFill>
                  <a:srgbClr val="E8935F"/>
                </a:solidFill>
                <a:highlight>
                  <a:srgbClr val="FFFF00"/>
                </a:highlight>
                <a:latin typeface="Arial" pitchFamily="34" charset="0"/>
                <a:ea typeface="Arial" pitchFamily="34" charset="-122"/>
                <a:cs typeface="Arial" pitchFamily="34" charset="-120"/>
                <a:hlinkClick r:id="rId3"/>
              </a:rPr>
              <a:t>https://github.com/rajsubediresearch/AMS-2026</a:t>
            </a:r>
            <a:r>
              <a:rPr lang="en-US" sz="1400" dirty="0">
                <a:solidFill>
                  <a:srgbClr val="E8935F"/>
                </a:solidFill>
                <a:highlight>
                  <a:srgbClr val="FFFF00"/>
                </a:highlight>
                <a:latin typeface="Arial" pitchFamily="34" charset="0"/>
                <a:ea typeface="Arial" pitchFamily="34" charset="-122"/>
                <a:cs typeface="Arial" pitchFamily="34" charset="-120"/>
              </a:rPr>
              <a:t> </a:t>
            </a:r>
            <a:endParaRPr lang="en-US" sz="1400" dirty="0">
              <a:highlight>
                <a:srgbClr val="FFFF00"/>
              </a:high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3" y="812713"/>
            <a:ext cx="10883519" cy="238778"/>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4A1A"/>
                </a:solidFill>
                <a:latin typeface="Arial" pitchFamily="34" charset="0"/>
                <a:ea typeface="Arial" pitchFamily="34" charset="-122"/>
                <a:cs typeface="Arial" pitchFamily="34" charset="-120"/>
              </a:rPr>
              <a:t>BACKGROUND</a:t>
            </a:r>
            <a:endParaRPr lang="en-US" sz="1200" dirty="0"/>
          </a:p>
        </p:txBody>
      </p:sp>
      <p:sp>
        <p:nvSpPr>
          <p:cNvPr id="3" name="Text 1"/>
          <p:cNvSpPr>
            <a:spLocks noGrp="1"/>
          </p:cNvSpPr>
          <p:nvPr>
            <p:ph type="title"/>
          </p:nvPr>
        </p:nvSpPr>
        <p:spPr>
          <a:xfrm>
            <a:off x="812713" y="1102260"/>
            <a:ext cx="10883519" cy="463424"/>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How should ensemble members be weighted?</a:t>
            </a:r>
            <a:endParaRPr lang="en-US" sz="3000" dirty="0"/>
          </a:p>
        </p:txBody>
      </p:sp>
      <p:sp>
        <p:nvSpPr>
          <p:cNvPr id="4" name="Text 2"/>
          <p:cNvSpPr/>
          <p:nvPr/>
        </p:nvSpPr>
        <p:spPr>
          <a:xfrm>
            <a:off x="812713" y="1845064"/>
            <a:ext cx="9810740" cy="665429"/>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3A4250"/>
                </a:solidFill>
                <a:latin typeface="Arial" pitchFamily="34" charset="0"/>
                <a:ea typeface="Arial" pitchFamily="34" charset="-122"/>
                <a:cs typeface="Arial" pitchFamily="34" charset="-120"/>
              </a:rPr>
              <a:t>Ensembles of growth models usually forecast better than any single model. The open question is how much weight each model gets, and what evidence the weights should use.</a:t>
            </a:r>
            <a:endParaRPr lang="en-US" sz="1800" dirty="0"/>
          </a:p>
        </p:txBody>
      </p:sp>
      <p:sp>
        <p:nvSpPr>
          <p:cNvPr id="5" name="Shape 3"/>
          <p:cNvSpPr/>
          <p:nvPr/>
        </p:nvSpPr>
        <p:spPr>
          <a:xfrm>
            <a:off x="815888" y="2793048"/>
            <a:ext cx="5175336" cy="1769432"/>
          </a:xfrm>
          <a:prstGeom prst="roundRect">
            <a:avLst>
              <a:gd name="adj" fmla="val 5563"/>
            </a:avLst>
          </a:prstGeom>
          <a:solidFill>
            <a:srgbClr val="FDFCF9"/>
          </a:solidFill>
          <a:ln w="6350">
            <a:solidFill>
              <a:srgbClr val="DCDDD6"/>
            </a:solidFill>
            <a:prstDash val="solid"/>
          </a:ln>
        </p:spPr>
        <p:txBody>
          <a:bodyPr/>
          <a:lstStyle/>
          <a:p>
            <a:endParaRPr lang="en-US"/>
          </a:p>
        </p:txBody>
      </p:sp>
      <p:sp>
        <p:nvSpPr>
          <p:cNvPr id="6" name="Text 4"/>
          <p:cNvSpPr/>
          <p:nvPr/>
        </p:nvSpPr>
        <p:spPr>
          <a:xfrm>
            <a:off x="1073357" y="3050518"/>
            <a:ext cx="4800209" cy="238778"/>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FB0"/>
                </a:solidFill>
                <a:latin typeface="Arial" pitchFamily="34" charset="0"/>
                <a:ea typeface="Arial" pitchFamily="34" charset="-122"/>
                <a:cs typeface="Arial" pitchFamily="34" charset="-120"/>
              </a:rPr>
              <a:t>STANDARD</a:t>
            </a:r>
            <a:endParaRPr lang="en-US" sz="1200" dirty="0"/>
          </a:p>
        </p:txBody>
      </p:sp>
      <p:sp>
        <p:nvSpPr>
          <p:cNvPr id="7" name="Text 5"/>
          <p:cNvSpPr/>
          <p:nvPr/>
        </p:nvSpPr>
        <p:spPr>
          <a:xfrm>
            <a:off x="1073357" y="3365419"/>
            <a:ext cx="4800209" cy="330076"/>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Georgia" pitchFamily="18" charset="0"/>
                <a:ea typeface="Georgia" pitchFamily="18" charset="-122"/>
                <a:cs typeface="Georgia" pitchFamily="18" charset="-120"/>
              </a:rPr>
              <a:t>Calibration-only weights</a:t>
            </a:r>
            <a:endParaRPr lang="en-US" sz="2000" dirty="0"/>
          </a:p>
        </p:txBody>
      </p:sp>
      <p:sp>
        <p:nvSpPr>
          <p:cNvPr id="8" name="Text 6"/>
          <p:cNvSpPr/>
          <p:nvPr/>
        </p:nvSpPr>
        <p:spPr>
          <a:xfrm>
            <a:off x="1073357" y="3771619"/>
            <a:ext cx="4800209" cy="558792"/>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A4250"/>
                </a:solidFill>
                <a:latin typeface="Arial" pitchFamily="34" charset="0"/>
                <a:ea typeface="Arial" pitchFamily="34" charset="-122"/>
                <a:cs typeface="Arial" pitchFamily="34" charset="-120"/>
              </a:rPr>
              <a:t>Weight ∝ 1 / WIS on the calibration window. Rewards how well a model fits the data it has already seen.</a:t>
            </a:r>
            <a:endParaRPr lang="en-US" sz="1500" dirty="0"/>
          </a:p>
        </p:txBody>
      </p:sp>
      <p:sp>
        <p:nvSpPr>
          <p:cNvPr id="9" name="Shape 7"/>
          <p:cNvSpPr/>
          <p:nvPr/>
        </p:nvSpPr>
        <p:spPr>
          <a:xfrm>
            <a:off x="6200726" y="2793048"/>
            <a:ext cx="5175336" cy="1769432"/>
          </a:xfrm>
          <a:prstGeom prst="roundRect">
            <a:avLst>
              <a:gd name="adj" fmla="val 5563"/>
            </a:avLst>
          </a:prstGeom>
          <a:solidFill>
            <a:srgbClr val="FDFCF9"/>
          </a:solidFill>
          <a:ln w="6350">
            <a:solidFill>
              <a:srgbClr val="DCDDD6"/>
            </a:solidFill>
            <a:prstDash val="solid"/>
          </a:ln>
        </p:spPr>
        <p:txBody>
          <a:bodyPr/>
          <a:lstStyle/>
          <a:p>
            <a:endParaRPr lang="en-US"/>
          </a:p>
        </p:txBody>
      </p:sp>
      <p:sp>
        <p:nvSpPr>
          <p:cNvPr id="10" name="Text 8"/>
          <p:cNvSpPr/>
          <p:nvPr/>
        </p:nvSpPr>
        <p:spPr>
          <a:xfrm>
            <a:off x="6458195" y="3050518"/>
            <a:ext cx="4800209" cy="238778"/>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4A1A"/>
                </a:solidFill>
                <a:latin typeface="Arial" pitchFamily="34" charset="0"/>
                <a:ea typeface="Arial" pitchFamily="34" charset="-122"/>
                <a:cs typeface="Arial" pitchFamily="34" charset="-120"/>
              </a:rPr>
              <a:t>PROPOSED</a:t>
            </a:r>
            <a:endParaRPr lang="en-US" sz="1200" dirty="0"/>
          </a:p>
        </p:txBody>
      </p:sp>
      <p:sp>
        <p:nvSpPr>
          <p:cNvPr id="11" name="Text 9"/>
          <p:cNvSpPr/>
          <p:nvPr/>
        </p:nvSpPr>
        <p:spPr>
          <a:xfrm>
            <a:off x="6458195" y="3365419"/>
            <a:ext cx="4800209" cy="330076"/>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Georgia" pitchFamily="18" charset="0"/>
                <a:ea typeface="Georgia" pitchFamily="18" charset="-122"/>
                <a:cs typeface="Georgia" pitchFamily="18" charset="-120"/>
              </a:rPr>
              <a:t>Joint calibration–forecast (JCF)</a:t>
            </a:r>
            <a:endParaRPr lang="en-US" sz="2000" dirty="0"/>
          </a:p>
        </p:txBody>
      </p:sp>
      <p:sp>
        <p:nvSpPr>
          <p:cNvPr id="12" name="Text 10"/>
          <p:cNvSpPr/>
          <p:nvPr/>
        </p:nvSpPr>
        <p:spPr>
          <a:xfrm>
            <a:off x="6458195" y="3771619"/>
            <a:ext cx="4800209" cy="558792"/>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A4250"/>
                </a:solidFill>
                <a:latin typeface="Arial" pitchFamily="34" charset="0"/>
                <a:ea typeface="Arial" pitchFamily="34" charset="-122"/>
                <a:cs typeface="Arial" pitchFamily="34" charset="-120"/>
              </a:rPr>
              <a:t>Also rewards how well the model actually forecast in the previous window, blended by a single parameter λ.</a:t>
            </a:r>
            <a:endParaRPr lang="en-US" sz="1500" dirty="0"/>
          </a:p>
        </p:txBody>
      </p:sp>
      <p:sp>
        <p:nvSpPr>
          <p:cNvPr id="13" name="Text 11"/>
          <p:cNvSpPr/>
          <p:nvPr/>
        </p:nvSpPr>
        <p:spPr>
          <a:xfrm>
            <a:off x="812713" y="6238243"/>
            <a:ext cx="3476063"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JCF ensemble forecasting · AMS Fall 2026</a:t>
            </a:r>
            <a:endParaRPr lang="en-US" sz="1200" dirty="0"/>
          </a:p>
        </p:txBody>
      </p:sp>
      <p:sp>
        <p:nvSpPr>
          <p:cNvPr id="14" name="Text 12"/>
          <p:cNvSpPr/>
          <p:nvPr/>
        </p:nvSpPr>
        <p:spPr>
          <a:xfrm>
            <a:off x="11243398" y="6238243"/>
            <a:ext cx="13562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3" y="812713"/>
            <a:ext cx="10883519" cy="238778"/>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4A1A"/>
                </a:solidFill>
                <a:latin typeface="Arial" pitchFamily="34" charset="0"/>
                <a:ea typeface="Arial" pitchFamily="34" charset="-122"/>
                <a:cs typeface="Arial" pitchFamily="34" charset="-120"/>
              </a:rPr>
              <a:t>METHODS · MODELS</a:t>
            </a:r>
            <a:endParaRPr lang="en-US" sz="1200" dirty="0"/>
          </a:p>
        </p:txBody>
      </p:sp>
      <p:sp>
        <p:nvSpPr>
          <p:cNvPr id="3" name="Text 1"/>
          <p:cNvSpPr>
            <a:spLocks noGrp="1"/>
          </p:cNvSpPr>
          <p:nvPr>
            <p:ph type="title"/>
          </p:nvPr>
        </p:nvSpPr>
        <p:spPr>
          <a:xfrm>
            <a:off x="812713" y="1102260"/>
            <a:ext cx="10883519" cy="463424"/>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Three phenomenological growth models</a:t>
            </a:r>
            <a:endParaRPr lang="en-US" sz="3000" dirty="0"/>
          </a:p>
        </p:txBody>
      </p:sp>
      <p:sp>
        <p:nvSpPr>
          <p:cNvPr id="4" name="Shape 2"/>
          <p:cNvSpPr/>
          <p:nvPr/>
        </p:nvSpPr>
        <p:spPr>
          <a:xfrm>
            <a:off x="815888" y="1848239"/>
            <a:ext cx="3380355" cy="2480308"/>
          </a:xfrm>
          <a:prstGeom prst="roundRect">
            <a:avLst>
              <a:gd name="adj" fmla="val 3968"/>
            </a:avLst>
          </a:prstGeom>
          <a:solidFill>
            <a:srgbClr val="FDFCF9"/>
          </a:solidFill>
          <a:ln w="6350">
            <a:solidFill>
              <a:srgbClr val="DCDDD6"/>
            </a:solidFill>
            <a:prstDash val="solid"/>
          </a:ln>
        </p:spPr>
        <p:txBody>
          <a:bodyPr/>
          <a:lstStyle/>
          <a:p>
            <a:endParaRPr lang="en-US"/>
          </a:p>
        </p:txBody>
      </p:sp>
      <p:sp>
        <p:nvSpPr>
          <p:cNvPr id="5" name="Text 3"/>
          <p:cNvSpPr/>
          <p:nvPr/>
        </p:nvSpPr>
        <p:spPr>
          <a:xfrm>
            <a:off x="1073357" y="2105709"/>
            <a:ext cx="2951379" cy="634752"/>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Georgia" pitchFamily="18" charset="0"/>
                <a:ea typeface="Georgia" pitchFamily="18" charset="-122"/>
                <a:cs typeface="Georgia" pitchFamily="18" charset="-120"/>
              </a:rPr>
              <a:t>Generalized logistic (GLM)</a:t>
            </a:r>
            <a:endParaRPr lang="en-US" sz="2000" dirty="0"/>
          </a:p>
        </p:txBody>
      </p:sp>
      <p:sp>
        <p:nvSpPr>
          <p:cNvPr id="6" name="Text 4"/>
          <p:cNvSpPr/>
          <p:nvPr/>
        </p:nvSpPr>
        <p:spPr>
          <a:xfrm>
            <a:off x="1073357" y="2842044"/>
            <a:ext cx="2951379" cy="380890"/>
          </a:xfrm>
          <a:prstGeom prst="rect">
            <a:avLst/>
          </a:prstGeom>
          <a:noFill/>
          <a:ln/>
        </p:spPr>
        <p:txBody>
          <a:bodyPr wrap="square" lIns="0" tIns="0" rIns="0" bIns="0" rtlCol="0" anchor="t">
            <a:normAutofit/>
          </a:bodyPr>
          <a:lstStyle/>
          <a:p>
            <a:pPr marL="0" indent="0" algn="l">
              <a:lnSpc>
                <a:spcPts val="2800"/>
              </a:lnSpc>
              <a:buNone/>
            </a:pPr>
            <a:r>
              <a:rPr lang="en-US" sz="2000" i="1" dirty="0">
                <a:solidFill>
                  <a:srgbClr val="14213D"/>
                </a:solidFill>
                <a:latin typeface="Georgia" pitchFamily="18" charset="0"/>
                <a:ea typeface="Georgia" pitchFamily="18" charset="-122"/>
                <a:cs typeface="Georgia" pitchFamily="18" charset="-120"/>
              </a:rPr>
              <a:t>C′(t) = r Cᵖ (1 − C/K)</a:t>
            </a:r>
            <a:endParaRPr lang="en-US" sz="2000" dirty="0"/>
          </a:p>
        </p:txBody>
      </p:sp>
      <p:sp>
        <p:nvSpPr>
          <p:cNvPr id="7" name="Text 5"/>
          <p:cNvSpPr/>
          <p:nvPr/>
        </p:nvSpPr>
        <p:spPr>
          <a:xfrm>
            <a:off x="1073357" y="3324516"/>
            <a:ext cx="2951379" cy="77196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250"/>
                </a:solidFill>
                <a:latin typeface="Arial" pitchFamily="34" charset="0"/>
                <a:ea typeface="Arial" pitchFamily="34" charset="-122"/>
                <a:cs typeface="Arial" pitchFamily="34" charset="-120"/>
              </a:rPr>
              <a:t>p ∈ (0, 1] scales growth from sub-exponential to exponential; p = 1 is the logistic.</a:t>
            </a:r>
            <a:endParaRPr lang="en-US" sz="1400" dirty="0"/>
          </a:p>
        </p:txBody>
      </p:sp>
      <p:sp>
        <p:nvSpPr>
          <p:cNvPr id="8" name="Shape 6"/>
          <p:cNvSpPr/>
          <p:nvPr/>
        </p:nvSpPr>
        <p:spPr>
          <a:xfrm>
            <a:off x="4405745" y="1848239"/>
            <a:ext cx="3380459" cy="2480308"/>
          </a:xfrm>
          <a:prstGeom prst="roundRect">
            <a:avLst>
              <a:gd name="adj" fmla="val 3968"/>
            </a:avLst>
          </a:prstGeom>
          <a:solidFill>
            <a:srgbClr val="FDFCF9"/>
          </a:solidFill>
          <a:ln w="6350">
            <a:solidFill>
              <a:srgbClr val="DCDDD6"/>
            </a:solidFill>
            <a:prstDash val="solid"/>
          </a:ln>
        </p:spPr>
        <p:txBody>
          <a:bodyPr/>
          <a:lstStyle/>
          <a:p>
            <a:endParaRPr lang="en-US"/>
          </a:p>
        </p:txBody>
      </p:sp>
      <p:sp>
        <p:nvSpPr>
          <p:cNvPr id="9" name="Text 7"/>
          <p:cNvSpPr/>
          <p:nvPr/>
        </p:nvSpPr>
        <p:spPr>
          <a:xfrm>
            <a:off x="4663215" y="2105709"/>
            <a:ext cx="2951486" cy="330076"/>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Georgia" pitchFamily="18" charset="0"/>
                <a:ea typeface="Georgia" pitchFamily="18" charset="-122"/>
                <a:cs typeface="Georgia" pitchFamily="18" charset="-120"/>
              </a:rPr>
              <a:t>Richards</a:t>
            </a:r>
            <a:endParaRPr lang="en-US" sz="2000" dirty="0"/>
          </a:p>
        </p:txBody>
      </p:sp>
      <p:sp>
        <p:nvSpPr>
          <p:cNvPr id="10" name="Text 8"/>
          <p:cNvSpPr/>
          <p:nvPr/>
        </p:nvSpPr>
        <p:spPr>
          <a:xfrm>
            <a:off x="4663215" y="2537368"/>
            <a:ext cx="2951486" cy="380890"/>
          </a:xfrm>
          <a:prstGeom prst="rect">
            <a:avLst/>
          </a:prstGeom>
          <a:noFill/>
          <a:ln/>
        </p:spPr>
        <p:txBody>
          <a:bodyPr wrap="square" lIns="0" tIns="0" rIns="0" bIns="0" rtlCol="0" anchor="t">
            <a:normAutofit/>
          </a:bodyPr>
          <a:lstStyle/>
          <a:p>
            <a:pPr marL="0" indent="0" algn="l">
              <a:lnSpc>
                <a:spcPts val="2800"/>
              </a:lnSpc>
              <a:buNone/>
            </a:pPr>
            <a:r>
              <a:rPr lang="en-US" sz="2000" i="1" dirty="0">
                <a:solidFill>
                  <a:srgbClr val="14213D"/>
                </a:solidFill>
                <a:latin typeface="Georgia" pitchFamily="18" charset="0"/>
                <a:ea typeface="Georgia" pitchFamily="18" charset="-122"/>
                <a:cs typeface="Georgia" pitchFamily="18" charset="-120"/>
              </a:rPr>
              <a:t>C′(t) = r C [1 − (C/K)ᵃ]</a:t>
            </a:r>
            <a:endParaRPr lang="en-US" sz="2000" dirty="0"/>
          </a:p>
        </p:txBody>
      </p:sp>
      <p:sp>
        <p:nvSpPr>
          <p:cNvPr id="11" name="Text 9"/>
          <p:cNvSpPr/>
          <p:nvPr/>
        </p:nvSpPr>
        <p:spPr>
          <a:xfrm>
            <a:off x="4663215" y="3019840"/>
            <a:ext cx="2951486" cy="5231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250"/>
                </a:solidFill>
                <a:latin typeface="Arial" pitchFamily="34" charset="0"/>
                <a:ea typeface="Arial" pitchFamily="34" charset="-122"/>
                <a:cs typeface="Arial" pitchFamily="34" charset="-120"/>
              </a:rPr>
              <a:t>a controls the asymmetry of the epidemic curve around its peak.</a:t>
            </a:r>
            <a:endParaRPr lang="en-US" sz="1400" dirty="0"/>
          </a:p>
        </p:txBody>
      </p:sp>
      <p:sp>
        <p:nvSpPr>
          <p:cNvPr id="12" name="Shape 10"/>
          <p:cNvSpPr/>
          <p:nvPr/>
        </p:nvSpPr>
        <p:spPr>
          <a:xfrm>
            <a:off x="7995707" y="1848239"/>
            <a:ext cx="3380355" cy="2480308"/>
          </a:xfrm>
          <a:prstGeom prst="roundRect">
            <a:avLst>
              <a:gd name="adj" fmla="val 3968"/>
            </a:avLst>
          </a:prstGeom>
          <a:solidFill>
            <a:srgbClr val="FDFCF9"/>
          </a:solidFill>
          <a:ln w="6350">
            <a:solidFill>
              <a:srgbClr val="DCDDD6"/>
            </a:solidFill>
            <a:prstDash val="solid"/>
          </a:ln>
        </p:spPr>
        <p:txBody>
          <a:bodyPr/>
          <a:lstStyle/>
          <a:p>
            <a:endParaRPr lang="en-US"/>
          </a:p>
        </p:txBody>
      </p:sp>
      <p:sp>
        <p:nvSpPr>
          <p:cNvPr id="13" name="Text 11"/>
          <p:cNvSpPr/>
          <p:nvPr/>
        </p:nvSpPr>
        <p:spPr>
          <a:xfrm>
            <a:off x="8253176" y="2105709"/>
            <a:ext cx="2951379" cy="330076"/>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Georgia" pitchFamily="18" charset="0"/>
                <a:ea typeface="Georgia" pitchFamily="18" charset="-122"/>
                <a:cs typeface="Georgia" pitchFamily="18" charset="-120"/>
              </a:rPr>
              <a:t>Gompertz</a:t>
            </a:r>
            <a:endParaRPr lang="en-US" sz="2000" dirty="0"/>
          </a:p>
        </p:txBody>
      </p:sp>
      <p:sp>
        <p:nvSpPr>
          <p:cNvPr id="14" name="Text 12"/>
          <p:cNvSpPr/>
          <p:nvPr/>
        </p:nvSpPr>
        <p:spPr>
          <a:xfrm>
            <a:off x="8253176" y="2537368"/>
            <a:ext cx="2951379" cy="380890"/>
          </a:xfrm>
          <a:prstGeom prst="rect">
            <a:avLst/>
          </a:prstGeom>
          <a:noFill/>
          <a:ln/>
        </p:spPr>
        <p:txBody>
          <a:bodyPr wrap="square" lIns="0" tIns="0" rIns="0" bIns="0" rtlCol="0" anchor="t">
            <a:normAutofit/>
          </a:bodyPr>
          <a:lstStyle/>
          <a:p>
            <a:pPr marL="0" indent="0" algn="l">
              <a:lnSpc>
                <a:spcPts val="2800"/>
              </a:lnSpc>
              <a:buNone/>
            </a:pPr>
            <a:r>
              <a:rPr lang="en-US" sz="2000" i="1" dirty="0">
                <a:solidFill>
                  <a:srgbClr val="14213D"/>
                </a:solidFill>
                <a:latin typeface="Georgia" pitchFamily="18" charset="0"/>
                <a:ea typeface="Georgia" pitchFamily="18" charset="-122"/>
                <a:cs typeface="Georgia" pitchFamily="18" charset="-120"/>
              </a:rPr>
              <a:t>C′(t) = r C e⁻ᵃᵗ</a:t>
            </a:r>
            <a:endParaRPr lang="en-US" sz="2000" dirty="0"/>
          </a:p>
        </p:txBody>
      </p:sp>
      <p:sp>
        <p:nvSpPr>
          <p:cNvPr id="15" name="Text 13"/>
          <p:cNvSpPr/>
          <p:nvPr/>
        </p:nvSpPr>
        <p:spPr>
          <a:xfrm>
            <a:off x="8253176" y="3019840"/>
            <a:ext cx="2951379" cy="5231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250"/>
                </a:solidFill>
                <a:latin typeface="Arial" pitchFamily="34" charset="0"/>
                <a:ea typeface="Arial" pitchFamily="34" charset="-122"/>
                <a:cs typeface="Arial" pitchFamily="34" charset="-120"/>
              </a:rPr>
              <a:t>Growth rate decays exponentially in time; no explicit final size K.</a:t>
            </a:r>
            <a:endParaRPr lang="en-US" sz="1400" dirty="0"/>
          </a:p>
        </p:txBody>
      </p:sp>
      <p:sp>
        <p:nvSpPr>
          <p:cNvPr id="16" name="Text 14"/>
          <p:cNvSpPr/>
          <p:nvPr/>
        </p:nvSpPr>
        <p:spPr>
          <a:xfrm>
            <a:off x="812713" y="4636503"/>
            <a:ext cx="10464703" cy="558792"/>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A4250"/>
                </a:solidFill>
                <a:latin typeface="Arial" pitchFamily="34" charset="0"/>
                <a:ea typeface="Arial" pitchFamily="34" charset="-122"/>
                <a:cs typeface="Arial" pitchFamily="34" charset="-120"/>
              </a:rPr>
              <a:t>C(t) = cumulative cases; models are fitted to incidence C′(t) by least squares (normal errors), 20 multistart points, and 300 parametric bootstrap refits per window for 95% prediction intervals.</a:t>
            </a:r>
            <a:endParaRPr lang="en-US" sz="1500" dirty="0"/>
          </a:p>
        </p:txBody>
      </p:sp>
      <p:sp>
        <p:nvSpPr>
          <p:cNvPr id="17" name="Text 15"/>
          <p:cNvSpPr/>
          <p:nvPr/>
        </p:nvSpPr>
        <p:spPr>
          <a:xfrm>
            <a:off x="812713" y="6238244"/>
            <a:ext cx="3476063"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JCF ensemble forecasting · AMS Fall 2026</a:t>
            </a:r>
            <a:endParaRPr lang="en-US" sz="1200" dirty="0"/>
          </a:p>
        </p:txBody>
      </p:sp>
      <p:sp>
        <p:nvSpPr>
          <p:cNvPr id="18" name="Text 16"/>
          <p:cNvSpPr/>
          <p:nvPr/>
        </p:nvSpPr>
        <p:spPr>
          <a:xfrm>
            <a:off x="11243398" y="6238244"/>
            <a:ext cx="13562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3" y="812713"/>
            <a:ext cx="10883519" cy="238778"/>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4A1A"/>
                </a:solidFill>
                <a:latin typeface="Arial" pitchFamily="34" charset="0"/>
                <a:ea typeface="Arial" pitchFamily="34" charset="-122"/>
                <a:cs typeface="Arial" pitchFamily="34" charset="-120"/>
              </a:rPr>
              <a:t>METHODS · DATA AND DESIGN</a:t>
            </a:r>
            <a:endParaRPr lang="en-US" sz="1200" dirty="0"/>
          </a:p>
        </p:txBody>
      </p:sp>
      <p:sp>
        <p:nvSpPr>
          <p:cNvPr id="3" name="Text 1"/>
          <p:cNvSpPr>
            <a:spLocks noGrp="1"/>
          </p:cNvSpPr>
          <p:nvPr>
            <p:ph type="title"/>
          </p:nvPr>
        </p:nvSpPr>
        <p:spPr>
          <a:xfrm>
            <a:off x="812713" y="1102260"/>
            <a:ext cx="10883519" cy="463424"/>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Simulated Ebola outbreak, five rolling windows</a:t>
            </a:r>
            <a:endParaRPr lang="en-US" sz="3000" dirty="0"/>
          </a:p>
        </p:txBody>
      </p:sp>
      <p:sp>
        <p:nvSpPr>
          <p:cNvPr id="4" name="Shape 2"/>
          <p:cNvSpPr/>
          <p:nvPr/>
        </p:nvSpPr>
        <p:spPr>
          <a:xfrm>
            <a:off x="812713" y="1794250"/>
            <a:ext cx="7492947" cy="3841736"/>
          </a:xfrm>
          <a:prstGeom prst="roundRect">
            <a:avLst>
              <a:gd name="adj" fmla="val 1983"/>
            </a:avLst>
          </a:prstGeom>
          <a:solidFill>
            <a:srgbClr val="FFFFFF"/>
          </a:solidFill>
          <a:ln/>
        </p:spPr>
        <p:txBody>
          <a:bodyPr/>
          <a:lstStyle/>
          <a:p>
            <a:endParaRPr lang="en-US"/>
          </a:p>
        </p:txBody>
      </p:sp>
      <p:pic>
        <p:nvPicPr>
          <p:cNvPr id="5" name="Image 0" descr="Weekly Ebola scenario 1 incidence peaking at 359 cases in week 23, with five 20-week calibration windows (blue) each followed by a 4-week forecast period (orange), shifted by 4 weeks"/>
          <p:cNvPicPr>
            <a:picLocks noChangeAspect="1"/>
          </p:cNvPicPr>
          <p:nvPr/>
        </p:nvPicPr>
        <p:blipFill>
          <a:blip r:embed="rId3"/>
          <a:srcRect t="-21" b="-21"/>
          <a:stretch/>
        </p:blipFill>
        <p:spPr>
          <a:xfrm>
            <a:off x="812713" y="1794250"/>
            <a:ext cx="7492947" cy="3841736"/>
          </a:xfrm>
          <a:prstGeom prst="roundRect">
            <a:avLst>
              <a:gd name="adj" fmla="val 1983"/>
            </a:avLst>
          </a:prstGeom>
        </p:spPr>
      </p:pic>
      <p:sp>
        <p:nvSpPr>
          <p:cNvPr id="6" name="Text 3"/>
          <p:cNvSpPr/>
          <p:nvPr/>
        </p:nvSpPr>
        <p:spPr>
          <a:xfrm>
            <a:off x="8559626" y="1794250"/>
            <a:ext cx="2904199" cy="282601"/>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3A4250"/>
                </a:solidFill>
                <a:latin typeface="Arial" pitchFamily="34" charset="0"/>
                <a:ea typeface="Arial" pitchFamily="34" charset="-122"/>
                <a:cs typeface="Arial" pitchFamily="34" charset="-120"/>
              </a:rPr>
              <a:t>45 weeks · 5,765 cases</a:t>
            </a:r>
            <a:endParaRPr lang="en-US" sz="1500" dirty="0"/>
          </a:p>
        </p:txBody>
      </p:sp>
      <p:sp>
        <p:nvSpPr>
          <p:cNvPr id="7" name="Text 4"/>
          <p:cNvSpPr/>
          <p:nvPr/>
        </p:nvSpPr>
        <p:spPr>
          <a:xfrm>
            <a:off x="8559626" y="2178434"/>
            <a:ext cx="2904199" cy="265385"/>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2F6FB0"/>
                </a:solidFill>
                <a:latin typeface="Arial" pitchFamily="34" charset="0"/>
                <a:ea typeface="Arial" pitchFamily="34" charset="-122"/>
                <a:cs typeface="Arial" pitchFamily="34" charset="-120"/>
              </a:rPr>
              <a:t>Calibration</a:t>
            </a:r>
            <a:r>
              <a:rPr lang="en-US" sz="1400" dirty="0">
                <a:solidFill>
                  <a:srgbClr val="3A4250"/>
                </a:solidFill>
                <a:latin typeface="Arial" pitchFamily="34" charset="0"/>
                <a:ea typeface="Arial" pitchFamily="34" charset="-122"/>
                <a:cs typeface="Arial" pitchFamily="34" charset="-120"/>
              </a:rPr>
              <a:t> C = 20 weeks</a:t>
            </a:r>
            <a:endParaRPr lang="en-US" sz="1400" dirty="0"/>
          </a:p>
        </p:txBody>
      </p:sp>
      <p:sp>
        <p:nvSpPr>
          <p:cNvPr id="8" name="Text 5"/>
          <p:cNvSpPr/>
          <p:nvPr/>
        </p:nvSpPr>
        <p:spPr>
          <a:xfrm>
            <a:off x="8559626" y="2545403"/>
            <a:ext cx="2904199" cy="265385"/>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B54A1A"/>
                </a:solidFill>
                <a:latin typeface="Arial" pitchFamily="34" charset="0"/>
                <a:ea typeface="Arial" pitchFamily="34" charset="-122"/>
                <a:cs typeface="Arial" pitchFamily="34" charset="-120"/>
              </a:rPr>
              <a:t>Forecast</a:t>
            </a:r>
            <a:r>
              <a:rPr lang="en-US" sz="1400" dirty="0">
                <a:solidFill>
                  <a:srgbClr val="3A4250"/>
                </a:solidFill>
                <a:latin typeface="Arial" pitchFamily="34" charset="0"/>
                <a:ea typeface="Arial" pitchFamily="34" charset="-122"/>
                <a:cs typeface="Arial" pitchFamily="34" charset="-120"/>
              </a:rPr>
              <a:t> H = 4 weeks ahead</a:t>
            </a:r>
            <a:endParaRPr lang="en-US" sz="1400" dirty="0"/>
          </a:p>
        </p:txBody>
      </p:sp>
      <p:sp>
        <p:nvSpPr>
          <p:cNvPr id="9" name="Text 6"/>
          <p:cNvSpPr/>
          <p:nvPr/>
        </p:nvSpPr>
        <p:spPr>
          <a:xfrm>
            <a:off x="8559626" y="2912370"/>
            <a:ext cx="2904199" cy="265385"/>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4250"/>
                </a:solidFill>
                <a:latin typeface="Arial" pitchFamily="34" charset="0"/>
                <a:ea typeface="Arial" pitchFamily="34" charset="-122"/>
                <a:cs typeface="Arial" pitchFamily="34" charset="-120"/>
              </a:rPr>
              <a:t>Shift s = 4 weeks → 5 windows</a:t>
            </a:r>
            <a:endParaRPr lang="en-US" sz="1400" dirty="0"/>
          </a:p>
        </p:txBody>
      </p:sp>
      <p:sp>
        <p:nvSpPr>
          <p:cNvPr id="10" name="Text 7"/>
          <p:cNvSpPr/>
          <p:nvPr/>
        </p:nvSpPr>
        <p:spPr>
          <a:xfrm>
            <a:off x="8559626" y="3279338"/>
            <a:ext cx="2904199" cy="71843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2"/>
                </a:solidFill>
                <a:latin typeface="Arial" pitchFamily="34" charset="0"/>
                <a:ea typeface="Arial" pitchFamily="34" charset="-122"/>
                <a:cs typeface="Arial" pitchFamily="34" charset="-120"/>
              </a:rPr>
              <a:t>H ≤ s: each window's forecast is fully observed before the next window is issued, so JCF never looks ahead.</a:t>
            </a:r>
            <a:endParaRPr lang="en-US" sz="1300" dirty="0"/>
          </a:p>
        </p:txBody>
      </p:sp>
      <p:sp>
        <p:nvSpPr>
          <p:cNvPr id="11" name="Text 8"/>
          <p:cNvSpPr/>
          <p:nvPr/>
        </p:nvSpPr>
        <p:spPr>
          <a:xfrm>
            <a:off x="812713" y="6238244"/>
            <a:ext cx="3476063"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JCF ensemble forecasting · AMS Fall 2026</a:t>
            </a:r>
            <a:endParaRPr lang="en-US" sz="1200" dirty="0"/>
          </a:p>
        </p:txBody>
      </p:sp>
      <p:sp>
        <p:nvSpPr>
          <p:cNvPr id="12" name="Text 9"/>
          <p:cNvSpPr/>
          <p:nvPr/>
        </p:nvSpPr>
        <p:spPr>
          <a:xfrm>
            <a:off x="11243398" y="6238244"/>
            <a:ext cx="13562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FF3"/>
        </a:solidFill>
        <a:effectLst/>
      </p:bgPr>
    </p:bg>
    <p:spTree>
      <p:nvGrpSpPr>
        <p:cNvPr id="1" name=""/>
        <p:cNvGrpSpPr/>
        <p:nvPr/>
      </p:nvGrpSpPr>
      <p:grpSpPr>
        <a:xfrm>
          <a:off x="0" y="0"/>
          <a:ext cx="0" cy="0"/>
          <a:chOff x="0" y="0"/>
          <a:chExt cx="0" cy="0"/>
        </a:xfrm>
      </p:grpSpPr>
      <p:sp>
        <p:nvSpPr>
          <p:cNvPr id="2" name="Text 0"/>
          <p:cNvSpPr/>
          <p:nvPr/>
        </p:nvSpPr>
        <p:spPr>
          <a:xfrm>
            <a:off x="812713" y="812713"/>
            <a:ext cx="10883519" cy="238778"/>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4A1A"/>
                </a:solidFill>
                <a:latin typeface="Arial" pitchFamily="34" charset="0"/>
                <a:ea typeface="Arial" pitchFamily="34" charset="-122"/>
                <a:cs typeface="Arial" pitchFamily="34" charset="-120"/>
              </a:rPr>
              <a:t>METHODS · PIPELINE</a:t>
            </a:r>
            <a:endParaRPr lang="en-US" sz="1200" dirty="0"/>
          </a:p>
        </p:txBody>
      </p:sp>
      <p:sp>
        <p:nvSpPr>
          <p:cNvPr id="3" name="Text 1"/>
          <p:cNvSpPr>
            <a:spLocks noGrp="1"/>
          </p:cNvSpPr>
          <p:nvPr>
            <p:ph type="title"/>
          </p:nvPr>
        </p:nvSpPr>
        <p:spPr>
          <a:xfrm>
            <a:off x="812713" y="1102258"/>
            <a:ext cx="10883519" cy="463424"/>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Seven pipeline steps, one command each</a:t>
            </a:r>
            <a:endParaRPr lang="en-US" sz="3000" dirty="0"/>
          </a:p>
        </p:txBody>
      </p:sp>
      <p:sp>
        <p:nvSpPr>
          <p:cNvPr id="4" name="Shape 2"/>
          <p:cNvSpPr/>
          <p:nvPr/>
        </p:nvSpPr>
        <p:spPr>
          <a:xfrm>
            <a:off x="815888" y="1848238"/>
            <a:ext cx="2521001" cy="1584018"/>
          </a:xfrm>
          <a:prstGeom prst="roundRect">
            <a:avLst>
              <a:gd name="adj" fmla="val 6214"/>
            </a:avLst>
          </a:prstGeom>
          <a:solidFill>
            <a:srgbClr val="FDFCF9"/>
          </a:solidFill>
          <a:ln w="6350">
            <a:solidFill>
              <a:srgbClr val="D3D8DF"/>
            </a:solidFill>
            <a:prstDash val="solid"/>
          </a:ln>
        </p:spPr>
        <p:txBody>
          <a:bodyPr/>
          <a:lstStyle/>
          <a:p>
            <a:endParaRPr lang="en-US"/>
          </a:p>
        </p:txBody>
      </p:sp>
      <p:sp>
        <p:nvSpPr>
          <p:cNvPr id="5" name="Text 3"/>
          <p:cNvSpPr/>
          <p:nvPr/>
        </p:nvSpPr>
        <p:spPr>
          <a:xfrm>
            <a:off x="971729" y="2004079"/>
            <a:ext cx="2275599" cy="238778"/>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54A1A"/>
                </a:solidFill>
                <a:latin typeface="Arial" pitchFamily="34" charset="0"/>
                <a:ea typeface="Arial" pitchFamily="34" charset="-122"/>
                <a:cs typeface="Arial" pitchFamily="34" charset="-120"/>
              </a:rPr>
              <a:t>1</a:t>
            </a:r>
            <a:endParaRPr lang="en-US" sz="1200" dirty="0"/>
          </a:p>
        </p:txBody>
      </p:sp>
      <p:sp>
        <p:nvSpPr>
          <p:cNvPr id="6" name="Text 4"/>
          <p:cNvSpPr/>
          <p:nvPr/>
        </p:nvSpPr>
        <p:spPr>
          <a:xfrm>
            <a:off x="971729" y="2280896"/>
            <a:ext cx="2275599" cy="26914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Fit models</a:t>
            </a:r>
            <a:endParaRPr lang="en-US" sz="1600" dirty="0"/>
          </a:p>
        </p:txBody>
      </p:sp>
      <p:sp>
        <p:nvSpPr>
          <p:cNvPr id="7" name="Text 5"/>
          <p:cNvSpPr/>
          <p:nvPr/>
        </p:nvSpPr>
        <p:spPr>
          <a:xfrm>
            <a:off x="971729" y="2588078"/>
            <a:ext cx="2275599" cy="43692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A4250"/>
                </a:solidFill>
                <a:latin typeface="Arial" pitchFamily="34" charset="0"/>
                <a:ea typeface="Arial" pitchFamily="34" charset="-122"/>
                <a:cs typeface="Arial" pitchFamily="34" charset="-120"/>
              </a:rPr>
              <a:t>3 models × 5 windows, 300 bootstraps each</a:t>
            </a:r>
            <a:endParaRPr lang="en-US" sz="1200" dirty="0"/>
          </a:p>
        </p:txBody>
      </p:sp>
      <p:sp>
        <p:nvSpPr>
          <p:cNvPr id="8" name="Text 6"/>
          <p:cNvSpPr/>
          <p:nvPr/>
        </p:nvSpPr>
        <p:spPr>
          <a:xfrm>
            <a:off x="971729" y="3063038"/>
            <a:ext cx="2275599"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batch_*_ebola_scenario1</a:t>
            </a:r>
            <a:endParaRPr lang="en-US" sz="1200" dirty="0"/>
          </a:p>
        </p:txBody>
      </p:sp>
      <p:sp>
        <p:nvSpPr>
          <p:cNvPr id="9" name="Shape 7"/>
          <p:cNvSpPr/>
          <p:nvPr/>
        </p:nvSpPr>
        <p:spPr>
          <a:xfrm>
            <a:off x="3495577" y="1848238"/>
            <a:ext cx="2521001" cy="1584018"/>
          </a:xfrm>
          <a:prstGeom prst="roundRect">
            <a:avLst>
              <a:gd name="adj" fmla="val 6214"/>
            </a:avLst>
          </a:prstGeom>
          <a:solidFill>
            <a:srgbClr val="FDFCF9"/>
          </a:solidFill>
          <a:ln w="6350">
            <a:solidFill>
              <a:srgbClr val="D3D8DF"/>
            </a:solidFill>
            <a:prstDash val="solid"/>
          </a:ln>
        </p:spPr>
        <p:txBody>
          <a:bodyPr/>
          <a:lstStyle/>
          <a:p>
            <a:endParaRPr lang="en-US"/>
          </a:p>
        </p:txBody>
      </p:sp>
      <p:sp>
        <p:nvSpPr>
          <p:cNvPr id="10" name="Text 8"/>
          <p:cNvSpPr/>
          <p:nvPr/>
        </p:nvSpPr>
        <p:spPr>
          <a:xfrm>
            <a:off x="3651418" y="2004079"/>
            <a:ext cx="2275599" cy="238778"/>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54A1A"/>
                </a:solidFill>
                <a:latin typeface="Arial" pitchFamily="34" charset="0"/>
                <a:ea typeface="Arial" pitchFamily="34" charset="-122"/>
                <a:cs typeface="Arial" pitchFamily="34" charset="-120"/>
              </a:rPr>
              <a:t>2</a:t>
            </a:r>
            <a:endParaRPr lang="en-US" sz="1200" dirty="0"/>
          </a:p>
        </p:txBody>
      </p:sp>
      <p:sp>
        <p:nvSpPr>
          <p:cNvPr id="11" name="Text 9"/>
          <p:cNvSpPr/>
          <p:nvPr/>
        </p:nvSpPr>
        <p:spPr>
          <a:xfrm>
            <a:off x="3651418" y="2280896"/>
            <a:ext cx="2275599" cy="26914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Collect metrics</a:t>
            </a:r>
            <a:endParaRPr lang="en-US" sz="1600" dirty="0"/>
          </a:p>
        </p:txBody>
      </p:sp>
      <p:sp>
        <p:nvSpPr>
          <p:cNvPr id="12" name="Text 10"/>
          <p:cNvSpPr/>
          <p:nvPr/>
        </p:nvSpPr>
        <p:spPr>
          <a:xfrm>
            <a:off x="3651418" y="2588078"/>
            <a:ext cx="2275599" cy="43692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A4250"/>
                </a:solidFill>
                <a:latin typeface="Arial" pitchFamily="34" charset="0"/>
                <a:ea typeface="Arial" pitchFamily="34" charset="-122"/>
                <a:cs typeface="Arial" pitchFamily="34" charset="-120"/>
              </a:rPr>
              <a:t>MAE, MSE, coverage, WIS, AICc per model and window</a:t>
            </a:r>
            <a:endParaRPr lang="en-US" sz="1200" dirty="0"/>
          </a:p>
        </p:txBody>
      </p:sp>
      <p:sp>
        <p:nvSpPr>
          <p:cNvPr id="13" name="Text 11"/>
          <p:cNvSpPr/>
          <p:nvPr/>
        </p:nvSpPr>
        <p:spPr>
          <a:xfrm>
            <a:off x="3651418" y="3063038"/>
            <a:ext cx="236198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collect_metrics_simple()</a:t>
            </a:r>
            <a:endParaRPr lang="en-US" sz="1200" dirty="0"/>
          </a:p>
        </p:txBody>
      </p:sp>
      <p:sp>
        <p:nvSpPr>
          <p:cNvPr id="14" name="Shape 12"/>
          <p:cNvSpPr/>
          <p:nvPr/>
        </p:nvSpPr>
        <p:spPr>
          <a:xfrm>
            <a:off x="6175267" y="1848238"/>
            <a:ext cx="2521001" cy="1584018"/>
          </a:xfrm>
          <a:prstGeom prst="roundRect">
            <a:avLst>
              <a:gd name="adj" fmla="val 6214"/>
            </a:avLst>
          </a:prstGeom>
          <a:solidFill>
            <a:srgbClr val="FDFCF9"/>
          </a:solidFill>
          <a:ln w="6350">
            <a:solidFill>
              <a:srgbClr val="D3D8DF"/>
            </a:solidFill>
            <a:prstDash val="solid"/>
          </a:ln>
        </p:spPr>
        <p:txBody>
          <a:bodyPr/>
          <a:lstStyle/>
          <a:p>
            <a:endParaRPr lang="en-US"/>
          </a:p>
        </p:txBody>
      </p:sp>
      <p:sp>
        <p:nvSpPr>
          <p:cNvPr id="15" name="Text 13"/>
          <p:cNvSpPr/>
          <p:nvPr/>
        </p:nvSpPr>
        <p:spPr>
          <a:xfrm>
            <a:off x="6331108" y="2004079"/>
            <a:ext cx="2275599" cy="238778"/>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54A1A"/>
                </a:solidFill>
                <a:latin typeface="Arial" pitchFamily="34" charset="0"/>
                <a:ea typeface="Arial" pitchFamily="34" charset="-122"/>
                <a:cs typeface="Arial" pitchFamily="34" charset="-120"/>
              </a:rPr>
              <a:t>3</a:t>
            </a:r>
            <a:endParaRPr lang="en-US" sz="1200" dirty="0"/>
          </a:p>
        </p:txBody>
      </p:sp>
      <p:sp>
        <p:nvSpPr>
          <p:cNvPr id="16" name="Text 14"/>
          <p:cNvSpPr/>
          <p:nvPr/>
        </p:nvSpPr>
        <p:spPr>
          <a:xfrm>
            <a:off x="6331108" y="2280896"/>
            <a:ext cx="2275599" cy="26914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Baseline ensemble</a:t>
            </a:r>
            <a:endParaRPr lang="en-US" sz="1600" dirty="0"/>
          </a:p>
        </p:txBody>
      </p:sp>
      <p:sp>
        <p:nvSpPr>
          <p:cNvPr id="17" name="Text 15"/>
          <p:cNvSpPr/>
          <p:nvPr/>
        </p:nvSpPr>
        <p:spPr>
          <a:xfrm>
            <a:off x="6331108" y="2588078"/>
            <a:ext cx="2275599" cy="43692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A4250"/>
                </a:solidFill>
                <a:latin typeface="Arial" pitchFamily="34" charset="0"/>
                <a:ea typeface="Arial" pitchFamily="34" charset="-122"/>
                <a:cs typeface="Arial" pitchFamily="34" charset="-120"/>
              </a:rPr>
              <a:t>Weights ∝ 1 / calibration WIS, linear pool</a:t>
            </a:r>
            <a:endParaRPr lang="en-US" sz="1200" dirty="0"/>
          </a:p>
        </p:txBody>
      </p:sp>
      <p:sp>
        <p:nvSpPr>
          <p:cNvPr id="18" name="Text 16"/>
          <p:cNvSpPr/>
          <p:nvPr/>
        </p:nvSpPr>
        <p:spPr>
          <a:xfrm>
            <a:off x="6331108" y="3063038"/>
            <a:ext cx="2361985"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create_ensemble_simple()</a:t>
            </a:r>
            <a:endParaRPr lang="en-US" sz="1200" dirty="0"/>
          </a:p>
        </p:txBody>
      </p:sp>
      <p:sp>
        <p:nvSpPr>
          <p:cNvPr id="19" name="Shape 17"/>
          <p:cNvSpPr/>
          <p:nvPr/>
        </p:nvSpPr>
        <p:spPr>
          <a:xfrm>
            <a:off x="8854956" y="1848238"/>
            <a:ext cx="2521106" cy="1584018"/>
          </a:xfrm>
          <a:prstGeom prst="roundRect">
            <a:avLst>
              <a:gd name="adj" fmla="val 6214"/>
            </a:avLst>
          </a:prstGeom>
          <a:solidFill>
            <a:srgbClr val="FDFCF9"/>
          </a:solidFill>
          <a:ln w="6350">
            <a:solidFill>
              <a:srgbClr val="D3D8DF"/>
            </a:solidFill>
            <a:prstDash val="solid"/>
          </a:ln>
        </p:spPr>
        <p:txBody>
          <a:bodyPr/>
          <a:lstStyle/>
          <a:p>
            <a:endParaRPr lang="en-US"/>
          </a:p>
        </p:txBody>
      </p:sp>
      <p:sp>
        <p:nvSpPr>
          <p:cNvPr id="20" name="Text 18"/>
          <p:cNvSpPr/>
          <p:nvPr/>
        </p:nvSpPr>
        <p:spPr>
          <a:xfrm>
            <a:off x="9010797" y="2004079"/>
            <a:ext cx="2275706" cy="238778"/>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54A1A"/>
                </a:solidFill>
                <a:latin typeface="Arial" pitchFamily="34" charset="0"/>
                <a:ea typeface="Arial" pitchFamily="34" charset="-122"/>
                <a:cs typeface="Arial" pitchFamily="34" charset="-120"/>
              </a:rPr>
              <a:t>4</a:t>
            </a:r>
            <a:endParaRPr lang="en-US" sz="1200" dirty="0"/>
          </a:p>
        </p:txBody>
      </p:sp>
      <p:sp>
        <p:nvSpPr>
          <p:cNvPr id="21" name="Text 19"/>
          <p:cNvSpPr/>
          <p:nvPr/>
        </p:nvSpPr>
        <p:spPr>
          <a:xfrm>
            <a:off x="9010797" y="2280896"/>
            <a:ext cx="2275706" cy="26914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Baseline plots</a:t>
            </a:r>
            <a:endParaRPr lang="en-US" sz="1600" dirty="0"/>
          </a:p>
        </p:txBody>
      </p:sp>
      <p:sp>
        <p:nvSpPr>
          <p:cNvPr id="22" name="Text 20"/>
          <p:cNvSpPr/>
          <p:nvPr/>
        </p:nvSpPr>
        <p:spPr>
          <a:xfrm>
            <a:off x="9010797" y="2588078"/>
            <a:ext cx="2275706" cy="43692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A4250"/>
                </a:solidFill>
                <a:latin typeface="Arial" pitchFamily="34" charset="0"/>
                <a:ea typeface="Arial" pitchFamily="34" charset="-122"/>
                <a:cs typeface="Arial" pitchFamily="34" charset="-120"/>
              </a:rPr>
              <a:t>Fits and forecasts for every window</a:t>
            </a:r>
            <a:endParaRPr lang="en-US" sz="1200" dirty="0"/>
          </a:p>
        </p:txBody>
      </p:sp>
      <p:sp>
        <p:nvSpPr>
          <p:cNvPr id="23" name="Text 21"/>
          <p:cNvSpPr/>
          <p:nvPr/>
        </p:nvSpPr>
        <p:spPr>
          <a:xfrm>
            <a:off x="9010797" y="3063038"/>
            <a:ext cx="2275706"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plot_forecasts_simple()</a:t>
            </a:r>
            <a:endParaRPr lang="en-US" sz="1200" dirty="0"/>
          </a:p>
        </p:txBody>
      </p:sp>
      <p:sp>
        <p:nvSpPr>
          <p:cNvPr id="24" name="Shape 22"/>
          <p:cNvSpPr/>
          <p:nvPr/>
        </p:nvSpPr>
        <p:spPr>
          <a:xfrm>
            <a:off x="815888" y="3590944"/>
            <a:ext cx="2521001" cy="1584018"/>
          </a:xfrm>
          <a:prstGeom prst="roundRect">
            <a:avLst>
              <a:gd name="adj" fmla="val 6214"/>
            </a:avLst>
          </a:prstGeom>
          <a:solidFill>
            <a:srgbClr val="FDFCF9"/>
          </a:solidFill>
          <a:ln w="6350">
            <a:solidFill>
              <a:srgbClr val="D3D8DF"/>
            </a:solidFill>
            <a:prstDash val="solid"/>
          </a:ln>
        </p:spPr>
        <p:txBody>
          <a:bodyPr/>
          <a:lstStyle/>
          <a:p>
            <a:endParaRPr lang="en-US"/>
          </a:p>
        </p:txBody>
      </p:sp>
      <p:sp>
        <p:nvSpPr>
          <p:cNvPr id="25" name="Text 23"/>
          <p:cNvSpPr/>
          <p:nvPr/>
        </p:nvSpPr>
        <p:spPr>
          <a:xfrm>
            <a:off x="971729" y="3746785"/>
            <a:ext cx="2275599" cy="238778"/>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54A1A"/>
                </a:solidFill>
                <a:latin typeface="Arial" pitchFamily="34" charset="0"/>
                <a:ea typeface="Arial" pitchFamily="34" charset="-122"/>
                <a:cs typeface="Arial" pitchFamily="34" charset="-120"/>
              </a:rPr>
              <a:t>5</a:t>
            </a:r>
            <a:endParaRPr lang="en-US" sz="1200" dirty="0"/>
          </a:p>
        </p:txBody>
      </p:sp>
      <p:sp>
        <p:nvSpPr>
          <p:cNvPr id="26" name="Text 24"/>
          <p:cNvSpPr/>
          <p:nvPr/>
        </p:nvSpPr>
        <p:spPr>
          <a:xfrm>
            <a:off x="971729" y="4023602"/>
            <a:ext cx="2275599" cy="26914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JCF ensembles</a:t>
            </a:r>
            <a:endParaRPr lang="en-US" sz="1600" dirty="0"/>
          </a:p>
        </p:txBody>
      </p:sp>
      <p:sp>
        <p:nvSpPr>
          <p:cNvPr id="27" name="Text 25"/>
          <p:cNvSpPr/>
          <p:nvPr/>
        </p:nvSpPr>
        <p:spPr>
          <a:xfrm>
            <a:off x="971729" y="4330784"/>
            <a:ext cx="2275599" cy="43692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A4250"/>
                </a:solidFill>
                <a:latin typeface="Arial" pitchFamily="34" charset="0"/>
                <a:ea typeface="Arial" pitchFamily="34" charset="-122"/>
                <a:cs typeface="Arial" pitchFamily="34" charset="-120"/>
              </a:rPr>
              <a:t>λ ∈ {0, 0.25, 0.5, 0.75, C/(C+H), 1}</a:t>
            </a:r>
            <a:endParaRPr lang="en-US" sz="1200" dirty="0"/>
          </a:p>
        </p:txBody>
      </p:sp>
      <p:sp>
        <p:nvSpPr>
          <p:cNvPr id="28" name="Text 26"/>
          <p:cNvSpPr/>
          <p:nvPr/>
        </p:nvSpPr>
        <p:spPr>
          <a:xfrm>
            <a:off x="971729" y="4805744"/>
            <a:ext cx="2275599"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run_jcf_sweep()</a:t>
            </a:r>
            <a:endParaRPr lang="en-US" sz="1200" dirty="0"/>
          </a:p>
        </p:txBody>
      </p:sp>
      <p:sp>
        <p:nvSpPr>
          <p:cNvPr id="29" name="Shape 27"/>
          <p:cNvSpPr/>
          <p:nvPr/>
        </p:nvSpPr>
        <p:spPr>
          <a:xfrm>
            <a:off x="3495577" y="3590944"/>
            <a:ext cx="2521001" cy="1584018"/>
          </a:xfrm>
          <a:prstGeom prst="roundRect">
            <a:avLst>
              <a:gd name="adj" fmla="val 6214"/>
            </a:avLst>
          </a:prstGeom>
          <a:solidFill>
            <a:srgbClr val="FDFCF9"/>
          </a:solidFill>
          <a:ln w="6350">
            <a:solidFill>
              <a:srgbClr val="D3D8DF"/>
            </a:solidFill>
            <a:prstDash val="solid"/>
          </a:ln>
        </p:spPr>
        <p:txBody>
          <a:bodyPr/>
          <a:lstStyle/>
          <a:p>
            <a:endParaRPr lang="en-US"/>
          </a:p>
        </p:txBody>
      </p:sp>
      <p:sp>
        <p:nvSpPr>
          <p:cNvPr id="30" name="Text 28"/>
          <p:cNvSpPr/>
          <p:nvPr/>
        </p:nvSpPr>
        <p:spPr>
          <a:xfrm>
            <a:off x="3651418" y="3746785"/>
            <a:ext cx="2275599" cy="238778"/>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54A1A"/>
                </a:solidFill>
                <a:latin typeface="Arial" pitchFamily="34" charset="0"/>
                <a:ea typeface="Arial" pitchFamily="34" charset="-122"/>
                <a:cs typeface="Arial" pitchFamily="34" charset="-120"/>
              </a:rPr>
              <a:t>6</a:t>
            </a:r>
            <a:endParaRPr lang="en-US" sz="1200" dirty="0"/>
          </a:p>
        </p:txBody>
      </p:sp>
      <p:sp>
        <p:nvSpPr>
          <p:cNvPr id="31" name="Text 29"/>
          <p:cNvSpPr/>
          <p:nvPr/>
        </p:nvSpPr>
        <p:spPr>
          <a:xfrm>
            <a:off x="3651418" y="4023602"/>
            <a:ext cx="2275599" cy="26914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Compare schemes</a:t>
            </a:r>
            <a:endParaRPr lang="en-US" sz="1600" dirty="0"/>
          </a:p>
        </p:txBody>
      </p:sp>
      <p:sp>
        <p:nvSpPr>
          <p:cNvPr id="32" name="Text 30"/>
          <p:cNvSpPr/>
          <p:nvPr/>
        </p:nvSpPr>
        <p:spPr>
          <a:xfrm>
            <a:off x="3651418" y="4330784"/>
            <a:ext cx="2275599" cy="43692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A4250"/>
                </a:solidFill>
                <a:latin typeface="Arial" pitchFamily="34" charset="0"/>
                <a:ea typeface="Arial" pitchFamily="34" charset="-122"/>
                <a:cs typeface="Arial" pitchFamily="34" charset="-120"/>
              </a:rPr>
              <a:t>Scheme table and weight trajectories</a:t>
            </a:r>
            <a:endParaRPr lang="en-US" sz="1200" dirty="0"/>
          </a:p>
        </p:txBody>
      </p:sp>
      <p:sp>
        <p:nvSpPr>
          <p:cNvPr id="33" name="Text 31"/>
          <p:cNvSpPr/>
          <p:nvPr/>
        </p:nvSpPr>
        <p:spPr>
          <a:xfrm>
            <a:off x="3651418" y="4805744"/>
            <a:ext cx="2275599"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compare_ensembles_jcf()</a:t>
            </a:r>
            <a:endParaRPr lang="en-US" sz="1200" dirty="0"/>
          </a:p>
        </p:txBody>
      </p:sp>
      <p:sp>
        <p:nvSpPr>
          <p:cNvPr id="34" name="Shape 32"/>
          <p:cNvSpPr/>
          <p:nvPr/>
        </p:nvSpPr>
        <p:spPr>
          <a:xfrm>
            <a:off x="6175267" y="3590944"/>
            <a:ext cx="2521001" cy="1584018"/>
          </a:xfrm>
          <a:prstGeom prst="roundRect">
            <a:avLst>
              <a:gd name="adj" fmla="val 6214"/>
            </a:avLst>
          </a:prstGeom>
          <a:solidFill>
            <a:srgbClr val="FDFCF9"/>
          </a:solidFill>
          <a:ln w="6350">
            <a:solidFill>
              <a:srgbClr val="D3D8DF"/>
            </a:solidFill>
            <a:prstDash val="solid"/>
          </a:ln>
        </p:spPr>
        <p:txBody>
          <a:bodyPr/>
          <a:lstStyle/>
          <a:p>
            <a:endParaRPr lang="en-US"/>
          </a:p>
        </p:txBody>
      </p:sp>
      <p:sp>
        <p:nvSpPr>
          <p:cNvPr id="35" name="Text 33"/>
          <p:cNvSpPr/>
          <p:nvPr/>
        </p:nvSpPr>
        <p:spPr>
          <a:xfrm>
            <a:off x="6331108" y="3746785"/>
            <a:ext cx="2275599" cy="238778"/>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54A1A"/>
                </a:solidFill>
                <a:latin typeface="Arial" pitchFamily="34" charset="0"/>
                <a:ea typeface="Arial" pitchFamily="34" charset="-122"/>
                <a:cs typeface="Arial" pitchFamily="34" charset="-120"/>
              </a:rPr>
              <a:t>7</a:t>
            </a:r>
            <a:endParaRPr lang="en-US" sz="1200" dirty="0"/>
          </a:p>
        </p:txBody>
      </p:sp>
      <p:sp>
        <p:nvSpPr>
          <p:cNvPr id="36" name="Text 34"/>
          <p:cNvSpPr/>
          <p:nvPr/>
        </p:nvSpPr>
        <p:spPr>
          <a:xfrm>
            <a:off x="6331108" y="4023602"/>
            <a:ext cx="2275599" cy="26914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JCF plots</a:t>
            </a:r>
            <a:endParaRPr lang="en-US" sz="1600" dirty="0"/>
          </a:p>
        </p:txBody>
      </p:sp>
      <p:sp>
        <p:nvSpPr>
          <p:cNvPr id="37" name="Text 35"/>
          <p:cNvSpPr/>
          <p:nvPr/>
        </p:nvSpPr>
        <p:spPr>
          <a:xfrm>
            <a:off x="6331108" y="4330784"/>
            <a:ext cx="2275599" cy="43692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A4250"/>
                </a:solidFill>
                <a:latin typeface="Arial" pitchFamily="34" charset="0"/>
                <a:ea typeface="Arial" pitchFamily="34" charset="-122"/>
                <a:cs typeface="Arial" pitchFamily="34" charset="-120"/>
              </a:rPr>
              <a:t>Weights, λ sensitivity, WIS by window</a:t>
            </a:r>
            <a:endParaRPr lang="en-US" sz="1200" dirty="0"/>
          </a:p>
        </p:txBody>
      </p:sp>
      <p:sp>
        <p:nvSpPr>
          <p:cNvPr id="38" name="Text 36"/>
          <p:cNvSpPr/>
          <p:nvPr/>
        </p:nvSpPr>
        <p:spPr>
          <a:xfrm>
            <a:off x="6331108" y="4805744"/>
            <a:ext cx="2275599"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Courier New" pitchFamily="49" charset="0"/>
                <a:ea typeface="Courier New" pitchFamily="49" charset="-122"/>
                <a:cs typeface="Courier New" pitchFamily="49" charset="-120"/>
              </a:rPr>
              <a:t>plot_forecasts_jcf()</a:t>
            </a:r>
            <a:endParaRPr lang="en-US" sz="1200" dirty="0"/>
          </a:p>
        </p:txBody>
      </p:sp>
      <p:sp>
        <p:nvSpPr>
          <p:cNvPr id="39" name="Shape 37"/>
          <p:cNvSpPr/>
          <p:nvPr/>
        </p:nvSpPr>
        <p:spPr>
          <a:xfrm>
            <a:off x="8851781" y="3587769"/>
            <a:ext cx="2527456" cy="1590368"/>
          </a:xfrm>
          <a:prstGeom prst="roundRect">
            <a:avLst>
              <a:gd name="adj" fmla="val 6388"/>
            </a:avLst>
          </a:prstGeom>
          <a:solidFill>
            <a:srgbClr val="14213D"/>
          </a:solidFill>
          <a:ln/>
        </p:spPr>
        <p:txBody>
          <a:bodyPr/>
          <a:lstStyle/>
          <a:p>
            <a:endParaRPr lang="en-US"/>
          </a:p>
        </p:txBody>
      </p:sp>
      <p:sp>
        <p:nvSpPr>
          <p:cNvPr id="40" name="Text 38"/>
          <p:cNvSpPr/>
          <p:nvPr/>
        </p:nvSpPr>
        <p:spPr>
          <a:xfrm>
            <a:off x="9004119" y="3740107"/>
            <a:ext cx="2289463" cy="238778"/>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8935F"/>
                </a:solidFill>
                <a:latin typeface="Arial" pitchFamily="34" charset="0"/>
                <a:ea typeface="Arial" pitchFamily="34" charset="-122"/>
                <a:cs typeface="Arial" pitchFamily="34" charset="-120"/>
              </a:rPr>
              <a:t>Check</a:t>
            </a:r>
            <a:endParaRPr lang="en-US" sz="1200" dirty="0"/>
          </a:p>
        </p:txBody>
      </p:sp>
      <p:sp>
        <p:nvSpPr>
          <p:cNvPr id="41" name="Text 39"/>
          <p:cNvSpPr/>
          <p:nvPr/>
        </p:nvSpPr>
        <p:spPr>
          <a:xfrm>
            <a:off x="9004119" y="4016924"/>
            <a:ext cx="2289463" cy="26914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6F5F0"/>
                </a:solidFill>
                <a:latin typeface="Arial" pitchFamily="34" charset="0"/>
                <a:ea typeface="Arial" pitchFamily="34" charset="-122"/>
                <a:cs typeface="Arial" pitchFamily="34" charset="-120"/>
              </a:rPr>
              <a:t>Passed</a:t>
            </a:r>
            <a:endParaRPr lang="en-US" sz="1600" dirty="0"/>
          </a:p>
        </p:txBody>
      </p:sp>
      <p:sp>
        <p:nvSpPr>
          <p:cNvPr id="42" name="Text 40"/>
          <p:cNvSpPr/>
          <p:nvPr/>
        </p:nvSpPr>
        <p:spPr>
          <a:xfrm>
            <a:off x="9004119" y="4324105"/>
            <a:ext cx="2289463" cy="43692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CE6"/>
                </a:solidFill>
                <a:latin typeface="Arial" pitchFamily="34" charset="0"/>
                <a:ea typeface="Arial" pitchFamily="34" charset="-122"/>
                <a:cs typeface="Arial" pitchFamily="34" charset="-120"/>
              </a:rPr>
              <a:t>λ = 1 reproduces the step 3 baseline exactly</a:t>
            </a:r>
            <a:endParaRPr lang="en-US" sz="1200" dirty="0"/>
          </a:p>
        </p:txBody>
      </p:sp>
      <p:sp>
        <p:nvSpPr>
          <p:cNvPr id="43" name="Text 41"/>
          <p:cNvSpPr/>
          <p:nvPr/>
        </p:nvSpPr>
        <p:spPr>
          <a:xfrm>
            <a:off x="812713" y="6238242"/>
            <a:ext cx="3476063"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JCF ensemble forecasting · AMS Fall 2026</a:t>
            </a:r>
            <a:endParaRPr lang="en-US" sz="1200" dirty="0"/>
          </a:p>
        </p:txBody>
      </p:sp>
      <p:sp>
        <p:nvSpPr>
          <p:cNvPr id="44" name="Text 42"/>
          <p:cNvSpPr/>
          <p:nvPr/>
        </p:nvSpPr>
        <p:spPr>
          <a:xfrm>
            <a:off x="11243398" y="6238242"/>
            <a:ext cx="13562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3" y="812713"/>
            <a:ext cx="10883519" cy="238778"/>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4A1A"/>
                </a:solidFill>
                <a:latin typeface="Arial" pitchFamily="34" charset="0"/>
                <a:ea typeface="Arial" pitchFamily="34" charset="-122"/>
                <a:cs typeface="Arial" pitchFamily="34" charset="-120"/>
              </a:rPr>
              <a:t>METHODS · WEIGHTING RULE</a:t>
            </a:r>
            <a:endParaRPr lang="en-US" sz="1200" dirty="0"/>
          </a:p>
        </p:txBody>
      </p:sp>
      <p:sp>
        <p:nvSpPr>
          <p:cNvPr id="3" name="Text 1"/>
          <p:cNvSpPr>
            <a:spLocks noGrp="1"/>
          </p:cNvSpPr>
          <p:nvPr>
            <p:ph type="title"/>
          </p:nvPr>
        </p:nvSpPr>
        <p:spPr>
          <a:xfrm>
            <a:off x="812713" y="1102258"/>
            <a:ext cx="10883519" cy="463424"/>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JCF: blend calibration and recent forecast skill</a:t>
            </a:r>
            <a:endParaRPr lang="en-US" sz="3000" dirty="0"/>
          </a:p>
        </p:txBody>
      </p:sp>
      <p:sp>
        <p:nvSpPr>
          <p:cNvPr id="4" name="Shape 2"/>
          <p:cNvSpPr/>
          <p:nvPr/>
        </p:nvSpPr>
        <p:spPr>
          <a:xfrm>
            <a:off x="812713" y="1845063"/>
            <a:ext cx="10566523" cy="1805519"/>
          </a:xfrm>
          <a:prstGeom prst="roundRect">
            <a:avLst>
              <a:gd name="adj" fmla="val 5627"/>
            </a:avLst>
          </a:prstGeom>
          <a:solidFill>
            <a:srgbClr val="14213D"/>
          </a:solidFill>
          <a:ln/>
        </p:spPr>
        <p:txBody>
          <a:bodyPr/>
          <a:lstStyle/>
          <a:p>
            <a:endParaRPr lang="en-US"/>
          </a:p>
        </p:txBody>
      </p:sp>
      <p:sp>
        <p:nvSpPr>
          <p:cNvPr id="5" name="Text 3"/>
          <p:cNvSpPr/>
          <p:nvPr/>
        </p:nvSpPr>
        <p:spPr>
          <a:xfrm>
            <a:off x="1168308" y="2149844"/>
            <a:ext cx="10150994" cy="355535"/>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6F5F0"/>
                </a:solidFill>
                <a:latin typeface="Georgia" pitchFamily="18" charset="0"/>
                <a:ea typeface="Georgia" pitchFamily="18" charset="-122"/>
                <a:cs typeface="Georgia" pitchFamily="18" charset="-120"/>
              </a:rPr>
              <a:t>score(</a:t>
            </a:r>
            <a:r>
              <a:rPr lang="en-US" sz="2000" i="1" dirty="0">
                <a:solidFill>
                  <a:srgbClr val="F6F5F0"/>
                </a:solidFill>
                <a:latin typeface="Georgia" pitchFamily="18" charset="0"/>
                <a:ea typeface="Georgia" pitchFamily="18" charset="-122"/>
                <a:cs typeface="Georgia" pitchFamily="18" charset="-120"/>
              </a:rPr>
              <a:t>i</a:t>
            </a:r>
            <a:r>
              <a:rPr lang="en-US" sz="2000" dirty="0">
                <a:solidFill>
                  <a:srgbClr val="F6F5F0"/>
                </a:solidFill>
                <a:latin typeface="Georgia" pitchFamily="18" charset="0"/>
                <a:ea typeface="Georgia" pitchFamily="18" charset="-122"/>
                <a:cs typeface="Georgia" pitchFamily="18" charset="-120"/>
              </a:rPr>
              <a:t>, </a:t>
            </a:r>
            <a:r>
              <a:rPr lang="en-US" sz="2000" i="1" dirty="0">
                <a:solidFill>
                  <a:srgbClr val="F6F5F0"/>
                </a:solidFill>
                <a:latin typeface="Georgia" pitchFamily="18" charset="0"/>
                <a:ea typeface="Georgia" pitchFamily="18" charset="-122"/>
                <a:cs typeface="Georgia" pitchFamily="18" charset="-120"/>
              </a:rPr>
              <a:t>w</a:t>
            </a:r>
            <a:r>
              <a:rPr lang="en-US" sz="2000" dirty="0">
                <a:solidFill>
                  <a:srgbClr val="F6F5F0"/>
                </a:solidFill>
                <a:latin typeface="Georgia" pitchFamily="18" charset="0"/>
                <a:ea typeface="Georgia" pitchFamily="18" charset="-122"/>
                <a:cs typeface="Georgia" pitchFamily="18" charset="-120"/>
              </a:rPr>
              <a:t>) = λ · WIS</a:t>
            </a:r>
            <a:r>
              <a:rPr lang="en-US" sz="2000" dirty="0">
                <a:solidFill>
                  <a:srgbClr val="9FC2E8"/>
                </a:solidFill>
                <a:latin typeface="Georgia" pitchFamily="18" charset="0"/>
                <a:ea typeface="Georgia" pitchFamily="18" charset="-122"/>
                <a:cs typeface="Georgia" pitchFamily="18" charset="-120"/>
              </a:rPr>
              <a:t>cal</a:t>
            </a:r>
            <a:r>
              <a:rPr lang="en-US" sz="2000" dirty="0">
                <a:solidFill>
                  <a:srgbClr val="F6F5F0"/>
                </a:solidFill>
                <a:latin typeface="Georgia" pitchFamily="18" charset="0"/>
                <a:ea typeface="Georgia" pitchFamily="18" charset="-122"/>
                <a:cs typeface="Georgia" pitchFamily="18" charset="-120"/>
              </a:rPr>
              <a:t>(</a:t>
            </a:r>
            <a:r>
              <a:rPr lang="en-US" sz="2000" i="1" dirty="0">
                <a:solidFill>
                  <a:srgbClr val="F6F5F0"/>
                </a:solidFill>
                <a:latin typeface="Georgia" pitchFamily="18" charset="0"/>
                <a:ea typeface="Georgia" pitchFamily="18" charset="-122"/>
                <a:cs typeface="Georgia" pitchFamily="18" charset="-120"/>
              </a:rPr>
              <a:t>i</a:t>
            </a:r>
            <a:r>
              <a:rPr lang="en-US" sz="2000" dirty="0">
                <a:solidFill>
                  <a:srgbClr val="F6F5F0"/>
                </a:solidFill>
                <a:latin typeface="Georgia" pitchFamily="18" charset="0"/>
                <a:ea typeface="Georgia" pitchFamily="18" charset="-122"/>
                <a:cs typeface="Georgia" pitchFamily="18" charset="-120"/>
              </a:rPr>
              <a:t>, </a:t>
            </a:r>
            <a:r>
              <a:rPr lang="en-US" sz="2000" i="1" dirty="0">
                <a:solidFill>
                  <a:srgbClr val="F6F5F0"/>
                </a:solidFill>
                <a:latin typeface="Georgia" pitchFamily="18" charset="0"/>
                <a:ea typeface="Georgia" pitchFamily="18" charset="-122"/>
                <a:cs typeface="Georgia" pitchFamily="18" charset="-120"/>
              </a:rPr>
              <a:t>w</a:t>
            </a:r>
            <a:r>
              <a:rPr lang="en-US" sz="2000" dirty="0">
                <a:solidFill>
                  <a:srgbClr val="F6F5F0"/>
                </a:solidFill>
                <a:latin typeface="Georgia" pitchFamily="18" charset="0"/>
                <a:ea typeface="Georgia" pitchFamily="18" charset="-122"/>
                <a:cs typeface="Georgia" pitchFamily="18" charset="-120"/>
              </a:rPr>
              <a:t>) + (1 − λ) · WIS</a:t>
            </a:r>
            <a:r>
              <a:rPr lang="en-US" sz="2000" dirty="0">
                <a:solidFill>
                  <a:srgbClr val="E8935F"/>
                </a:solidFill>
                <a:latin typeface="Georgia" pitchFamily="18" charset="0"/>
                <a:ea typeface="Georgia" pitchFamily="18" charset="-122"/>
                <a:cs typeface="Georgia" pitchFamily="18" charset="-120"/>
              </a:rPr>
              <a:t>fc</a:t>
            </a:r>
            <a:r>
              <a:rPr lang="en-US" sz="2000" dirty="0">
                <a:solidFill>
                  <a:srgbClr val="F6F5F0"/>
                </a:solidFill>
                <a:latin typeface="Georgia" pitchFamily="18" charset="0"/>
                <a:ea typeface="Georgia" pitchFamily="18" charset="-122"/>
                <a:cs typeface="Georgia" pitchFamily="18" charset="-120"/>
              </a:rPr>
              <a:t>(</a:t>
            </a:r>
            <a:r>
              <a:rPr lang="en-US" sz="2000" i="1" dirty="0">
                <a:solidFill>
                  <a:srgbClr val="F6F5F0"/>
                </a:solidFill>
                <a:latin typeface="Georgia" pitchFamily="18" charset="0"/>
                <a:ea typeface="Georgia" pitchFamily="18" charset="-122"/>
                <a:cs typeface="Georgia" pitchFamily="18" charset="-120"/>
              </a:rPr>
              <a:t>i</a:t>
            </a:r>
            <a:r>
              <a:rPr lang="en-US" sz="2000" dirty="0">
                <a:solidFill>
                  <a:srgbClr val="F6F5F0"/>
                </a:solidFill>
                <a:latin typeface="Georgia" pitchFamily="18" charset="0"/>
                <a:ea typeface="Georgia" pitchFamily="18" charset="-122"/>
                <a:cs typeface="Georgia" pitchFamily="18" charset="-120"/>
              </a:rPr>
              <a:t>, </a:t>
            </a:r>
            <a:r>
              <a:rPr lang="en-US" sz="2000" i="1" dirty="0">
                <a:solidFill>
                  <a:srgbClr val="F6F5F0"/>
                </a:solidFill>
                <a:latin typeface="Georgia" pitchFamily="18" charset="0"/>
                <a:ea typeface="Georgia" pitchFamily="18" charset="-122"/>
                <a:cs typeface="Georgia" pitchFamily="18" charset="-120"/>
              </a:rPr>
              <a:t>w</a:t>
            </a:r>
            <a:r>
              <a:rPr lang="en-US" sz="2000" dirty="0">
                <a:solidFill>
                  <a:srgbClr val="F6F5F0"/>
                </a:solidFill>
                <a:latin typeface="Georgia" pitchFamily="18" charset="0"/>
                <a:ea typeface="Georgia" pitchFamily="18" charset="-122"/>
                <a:cs typeface="Georgia" pitchFamily="18" charset="-120"/>
              </a:rPr>
              <a:t> − 1)</a:t>
            </a:r>
            <a:endParaRPr lang="en-US" sz="2000" dirty="0"/>
          </a:p>
        </p:txBody>
      </p:sp>
      <p:sp>
        <p:nvSpPr>
          <p:cNvPr id="6" name="Text 4"/>
          <p:cNvSpPr/>
          <p:nvPr/>
        </p:nvSpPr>
        <p:spPr>
          <a:xfrm>
            <a:off x="1168308" y="2632317"/>
            <a:ext cx="10150994" cy="355535"/>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6F5F0"/>
                </a:solidFill>
                <a:latin typeface="Georgia" pitchFamily="18" charset="0"/>
                <a:ea typeface="Georgia" pitchFamily="18" charset="-122"/>
                <a:cs typeface="Georgia" pitchFamily="18" charset="-120"/>
              </a:rPr>
              <a:t>weight(</a:t>
            </a:r>
            <a:r>
              <a:rPr lang="en-US" sz="2000" i="1" dirty="0">
                <a:solidFill>
                  <a:srgbClr val="F6F5F0"/>
                </a:solidFill>
                <a:latin typeface="Georgia" pitchFamily="18" charset="0"/>
                <a:ea typeface="Georgia" pitchFamily="18" charset="-122"/>
                <a:cs typeface="Georgia" pitchFamily="18" charset="-120"/>
              </a:rPr>
              <a:t>i</a:t>
            </a:r>
            <a:r>
              <a:rPr lang="en-US" sz="2000" dirty="0">
                <a:solidFill>
                  <a:srgbClr val="F6F5F0"/>
                </a:solidFill>
                <a:latin typeface="Georgia" pitchFamily="18" charset="0"/>
                <a:ea typeface="Georgia" pitchFamily="18" charset="-122"/>
                <a:cs typeface="Georgia" pitchFamily="18" charset="-120"/>
              </a:rPr>
              <a:t>, </a:t>
            </a:r>
            <a:r>
              <a:rPr lang="en-US" sz="2000" i="1" dirty="0">
                <a:solidFill>
                  <a:srgbClr val="F6F5F0"/>
                </a:solidFill>
                <a:latin typeface="Georgia" pitchFamily="18" charset="0"/>
                <a:ea typeface="Georgia" pitchFamily="18" charset="-122"/>
                <a:cs typeface="Georgia" pitchFamily="18" charset="-120"/>
              </a:rPr>
              <a:t>w</a:t>
            </a:r>
            <a:r>
              <a:rPr lang="en-US" sz="2000" dirty="0">
                <a:solidFill>
                  <a:srgbClr val="F6F5F0"/>
                </a:solidFill>
                <a:latin typeface="Georgia" pitchFamily="18" charset="0"/>
                <a:ea typeface="Georgia" pitchFamily="18" charset="-122"/>
                <a:cs typeface="Georgia" pitchFamily="18" charset="-120"/>
              </a:rPr>
              <a:t>) = [1 / score(</a:t>
            </a:r>
            <a:r>
              <a:rPr lang="en-US" sz="2000" i="1" dirty="0">
                <a:solidFill>
                  <a:srgbClr val="F6F5F0"/>
                </a:solidFill>
                <a:latin typeface="Georgia" pitchFamily="18" charset="0"/>
                <a:ea typeface="Georgia" pitchFamily="18" charset="-122"/>
                <a:cs typeface="Georgia" pitchFamily="18" charset="-120"/>
              </a:rPr>
              <a:t>i</a:t>
            </a:r>
            <a:r>
              <a:rPr lang="en-US" sz="2000" dirty="0">
                <a:solidFill>
                  <a:srgbClr val="F6F5F0"/>
                </a:solidFill>
                <a:latin typeface="Georgia" pitchFamily="18" charset="0"/>
                <a:ea typeface="Georgia" pitchFamily="18" charset="-122"/>
                <a:cs typeface="Georgia" pitchFamily="18" charset="-120"/>
              </a:rPr>
              <a:t>, </a:t>
            </a:r>
            <a:r>
              <a:rPr lang="en-US" sz="2000" i="1" dirty="0">
                <a:solidFill>
                  <a:srgbClr val="F6F5F0"/>
                </a:solidFill>
                <a:latin typeface="Georgia" pitchFamily="18" charset="0"/>
                <a:ea typeface="Georgia" pitchFamily="18" charset="-122"/>
                <a:cs typeface="Georgia" pitchFamily="18" charset="-120"/>
              </a:rPr>
              <a:t>w</a:t>
            </a:r>
            <a:r>
              <a:rPr lang="en-US" sz="2000" dirty="0">
                <a:solidFill>
                  <a:srgbClr val="F6F5F0"/>
                </a:solidFill>
                <a:latin typeface="Georgia" pitchFamily="18" charset="0"/>
                <a:ea typeface="Georgia" pitchFamily="18" charset="-122"/>
                <a:cs typeface="Georgia" pitchFamily="18" charset="-120"/>
              </a:rPr>
              <a:t>)] / Σ</a:t>
            </a:r>
            <a:r>
              <a:rPr lang="en-US" sz="2000" i="1" dirty="0">
                <a:solidFill>
                  <a:srgbClr val="F6F5F0"/>
                </a:solidFill>
                <a:latin typeface="Georgia" pitchFamily="18" charset="0"/>
                <a:ea typeface="Georgia" pitchFamily="18" charset="-122"/>
                <a:cs typeface="Georgia" pitchFamily="18" charset="-120"/>
              </a:rPr>
              <a:t>ⱼ</a:t>
            </a:r>
            <a:r>
              <a:rPr lang="en-US" sz="2000" dirty="0">
                <a:solidFill>
                  <a:srgbClr val="F6F5F0"/>
                </a:solidFill>
                <a:latin typeface="Georgia" pitchFamily="18" charset="0"/>
                <a:ea typeface="Georgia" pitchFamily="18" charset="-122"/>
                <a:cs typeface="Georgia" pitchFamily="18" charset="-120"/>
              </a:rPr>
              <a:t> [1 / score(</a:t>
            </a:r>
            <a:r>
              <a:rPr lang="en-US" sz="2000" i="1" dirty="0">
                <a:solidFill>
                  <a:srgbClr val="F6F5F0"/>
                </a:solidFill>
                <a:latin typeface="Georgia" pitchFamily="18" charset="0"/>
                <a:ea typeface="Georgia" pitchFamily="18" charset="-122"/>
                <a:cs typeface="Georgia" pitchFamily="18" charset="-120"/>
              </a:rPr>
              <a:t>j</a:t>
            </a:r>
            <a:r>
              <a:rPr lang="en-US" sz="2000" dirty="0">
                <a:solidFill>
                  <a:srgbClr val="F6F5F0"/>
                </a:solidFill>
                <a:latin typeface="Georgia" pitchFamily="18" charset="0"/>
                <a:ea typeface="Georgia" pitchFamily="18" charset="-122"/>
                <a:cs typeface="Georgia" pitchFamily="18" charset="-120"/>
              </a:rPr>
              <a:t>, </a:t>
            </a:r>
            <a:r>
              <a:rPr lang="en-US" sz="2000" i="1" dirty="0">
                <a:solidFill>
                  <a:srgbClr val="F6F5F0"/>
                </a:solidFill>
                <a:latin typeface="Georgia" pitchFamily="18" charset="0"/>
                <a:ea typeface="Georgia" pitchFamily="18" charset="-122"/>
                <a:cs typeface="Georgia" pitchFamily="18" charset="-120"/>
              </a:rPr>
              <a:t>w</a:t>
            </a:r>
            <a:r>
              <a:rPr lang="en-US" sz="2000" dirty="0">
                <a:solidFill>
                  <a:srgbClr val="F6F5F0"/>
                </a:solidFill>
                <a:latin typeface="Georgia" pitchFamily="18" charset="0"/>
                <a:ea typeface="Georgia" pitchFamily="18" charset="-122"/>
                <a:cs typeface="Georgia" pitchFamily="18" charset="-120"/>
              </a:rPr>
              <a:t>)]</a:t>
            </a:r>
            <a:endParaRPr lang="en-US" sz="2000" dirty="0"/>
          </a:p>
        </p:txBody>
      </p:sp>
      <p:sp>
        <p:nvSpPr>
          <p:cNvPr id="7" name="Text 5"/>
          <p:cNvSpPr/>
          <p:nvPr/>
        </p:nvSpPr>
        <p:spPr>
          <a:xfrm>
            <a:off x="1168308" y="3114790"/>
            <a:ext cx="10150994" cy="25641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D3E0"/>
                </a:solidFill>
                <a:latin typeface="Arial" pitchFamily="34" charset="0"/>
                <a:ea typeface="Arial" pitchFamily="34" charset="-122"/>
                <a:cs typeface="Arial" pitchFamily="34" charset="-120"/>
              </a:rPr>
              <a:t>Model </a:t>
            </a:r>
            <a:r>
              <a:rPr lang="en-US" sz="1300" i="1" dirty="0">
                <a:solidFill>
                  <a:srgbClr val="C9D3E0"/>
                </a:solidFill>
                <a:latin typeface="Arial" pitchFamily="34" charset="0"/>
                <a:ea typeface="Arial" pitchFamily="34" charset="-122"/>
                <a:cs typeface="Arial" pitchFamily="34" charset="-120"/>
              </a:rPr>
              <a:t>i</a:t>
            </a:r>
            <a:r>
              <a:rPr lang="en-US" sz="1300" dirty="0">
                <a:solidFill>
                  <a:srgbClr val="C9D3E0"/>
                </a:solidFill>
                <a:latin typeface="Arial" pitchFamily="34" charset="0"/>
                <a:ea typeface="Arial" pitchFamily="34" charset="-122"/>
                <a:cs typeface="Arial" pitchFamily="34" charset="-120"/>
              </a:rPr>
              <a:t>, window </a:t>
            </a:r>
            <a:r>
              <a:rPr lang="en-US" sz="1300" i="1" dirty="0">
                <a:solidFill>
                  <a:srgbClr val="C9D3E0"/>
                </a:solidFill>
                <a:latin typeface="Arial" pitchFamily="34" charset="0"/>
                <a:ea typeface="Arial" pitchFamily="34" charset="-122"/>
                <a:cs typeface="Arial" pitchFamily="34" charset="-120"/>
              </a:rPr>
              <a:t>w</a:t>
            </a:r>
            <a:r>
              <a:rPr lang="en-US" sz="1300" dirty="0">
                <a:solidFill>
                  <a:srgbClr val="C9D3E0"/>
                </a:solidFill>
                <a:latin typeface="Arial" pitchFamily="34" charset="0"/>
                <a:ea typeface="Arial" pitchFamily="34" charset="-122"/>
                <a:cs typeface="Arial" pitchFamily="34" charset="-120"/>
              </a:rPr>
              <a:t>. Members are combined by a weighted linear pool of their bootstrap trajectories.</a:t>
            </a:r>
            <a:endParaRPr lang="en-US" sz="1300" dirty="0"/>
          </a:p>
        </p:txBody>
      </p:sp>
      <p:sp>
        <p:nvSpPr>
          <p:cNvPr id="8" name="Shape 6"/>
          <p:cNvSpPr/>
          <p:nvPr/>
        </p:nvSpPr>
        <p:spPr>
          <a:xfrm>
            <a:off x="815888" y="3958537"/>
            <a:ext cx="2521001" cy="1102588"/>
          </a:xfrm>
          <a:prstGeom prst="roundRect">
            <a:avLst>
              <a:gd name="adj" fmla="val 8927"/>
            </a:avLst>
          </a:prstGeom>
          <a:solidFill>
            <a:srgbClr val="FDFCF9"/>
          </a:solidFill>
          <a:ln w="6350">
            <a:solidFill>
              <a:srgbClr val="DCDDD6"/>
            </a:solidFill>
            <a:prstDash val="solid"/>
          </a:ln>
        </p:spPr>
        <p:txBody>
          <a:bodyPr/>
          <a:lstStyle/>
          <a:p>
            <a:endParaRPr lang="en-US"/>
          </a:p>
        </p:txBody>
      </p:sp>
      <p:sp>
        <p:nvSpPr>
          <p:cNvPr id="9" name="Text 7"/>
          <p:cNvSpPr/>
          <p:nvPr/>
        </p:nvSpPr>
        <p:spPr>
          <a:xfrm>
            <a:off x="997188" y="4139837"/>
            <a:ext cx="2223153" cy="26914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λ = 1</a:t>
            </a:r>
            <a:endParaRPr lang="en-US" sz="1600" dirty="0"/>
          </a:p>
        </p:txBody>
      </p:sp>
      <p:sp>
        <p:nvSpPr>
          <p:cNvPr id="10" name="Text 8"/>
          <p:cNvSpPr/>
          <p:nvPr/>
        </p:nvSpPr>
        <p:spPr>
          <a:xfrm>
            <a:off x="997188" y="4434291"/>
            <a:ext cx="2223153" cy="248168"/>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250"/>
                </a:solidFill>
                <a:latin typeface="Arial" pitchFamily="34" charset="0"/>
                <a:ea typeface="Arial" pitchFamily="34" charset="-122"/>
                <a:cs typeface="Arial" pitchFamily="34" charset="-120"/>
              </a:rPr>
              <a:t>Calibration-only baseline</a:t>
            </a:r>
            <a:endParaRPr lang="en-US" sz="1300" dirty="0"/>
          </a:p>
        </p:txBody>
      </p:sp>
      <p:sp>
        <p:nvSpPr>
          <p:cNvPr id="11" name="Shape 9"/>
          <p:cNvSpPr/>
          <p:nvPr/>
        </p:nvSpPr>
        <p:spPr>
          <a:xfrm>
            <a:off x="3495577" y="3958537"/>
            <a:ext cx="2521106" cy="1102588"/>
          </a:xfrm>
          <a:prstGeom prst="roundRect">
            <a:avLst>
              <a:gd name="adj" fmla="val 8927"/>
            </a:avLst>
          </a:prstGeom>
          <a:solidFill>
            <a:srgbClr val="FDFCF9"/>
          </a:solidFill>
          <a:ln w="6350">
            <a:solidFill>
              <a:srgbClr val="DCDDD6"/>
            </a:solidFill>
            <a:prstDash val="solid"/>
          </a:ln>
        </p:spPr>
        <p:txBody>
          <a:bodyPr/>
          <a:lstStyle/>
          <a:p>
            <a:endParaRPr lang="en-US"/>
          </a:p>
        </p:txBody>
      </p:sp>
      <p:sp>
        <p:nvSpPr>
          <p:cNvPr id="12" name="Text 10"/>
          <p:cNvSpPr/>
          <p:nvPr/>
        </p:nvSpPr>
        <p:spPr>
          <a:xfrm>
            <a:off x="3676878" y="4139837"/>
            <a:ext cx="2223260" cy="26914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λ = 0</a:t>
            </a:r>
            <a:endParaRPr lang="en-US" sz="1600" dirty="0"/>
          </a:p>
        </p:txBody>
      </p:sp>
      <p:sp>
        <p:nvSpPr>
          <p:cNvPr id="13" name="Text 11"/>
          <p:cNvSpPr/>
          <p:nvPr/>
        </p:nvSpPr>
        <p:spPr>
          <a:xfrm>
            <a:off x="3676878" y="4434291"/>
            <a:ext cx="2223260" cy="248168"/>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250"/>
                </a:solidFill>
                <a:latin typeface="Arial" pitchFamily="34" charset="0"/>
                <a:ea typeface="Arial" pitchFamily="34" charset="-122"/>
                <a:cs typeface="Arial" pitchFamily="34" charset="-120"/>
              </a:rPr>
              <a:t>Previous forecast score only</a:t>
            </a:r>
            <a:endParaRPr lang="en-US" sz="1300" dirty="0"/>
          </a:p>
        </p:txBody>
      </p:sp>
      <p:sp>
        <p:nvSpPr>
          <p:cNvPr id="14" name="Shape 12"/>
          <p:cNvSpPr/>
          <p:nvPr/>
        </p:nvSpPr>
        <p:spPr>
          <a:xfrm>
            <a:off x="6175371" y="3958537"/>
            <a:ext cx="2521001" cy="1102588"/>
          </a:xfrm>
          <a:prstGeom prst="roundRect">
            <a:avLst>
              <a:gd name="adj" fmla="val 8927"/>
            </a:avLst>
          </a:prstGeom>
          <a:solidFill>
            <a:srgbClr val="FDFCF9"/>
          </a:solidFill>
          <a:ln w="6350">
            <a:solidFill>
              <a:srgbClr val="DCDDD6"/>
            </a:solidFill>
            <a:prstDash val="solid"/>
          </a:ln>
        </p:spPr>
        <p:txBody>
          <a:bodyPr/>
          <a:lstStyle/>
          <a:p>
            <a:endParaRPr lang="en-US"/>
          </a:p>
        </p:txBody>
      </p:sp>
      <p:sp>
        <p:nvSpPr>
          <p:cNvPr id="15" name="Text 13"/>
          <p:cNvSpPr/>
          <p:nvPr/>
        </p:nvSpPr>
        <p:spPr>
          <a:xfrm>
            <a:off x="6356671" y="4139837"/>
            <a:ext cx="2223153" cy="26914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λ = C/(C+H)</a:t>
            </a:r>
            <a:endParaRPr lang="en-US" sz="1600" dirty="0"/>
          </a:p>
        </p:txBody>
      </p:sp>
      <p:sp>
        <p:nvSpPr>
          <p:cNvPr id="16" name="Text 14"/>
          <p:cNvSpPr/>
          <p:nvPr/>
        </p:nvSpPr>
        <p:spPr>
          <a:xfrm>
            <a:off x="6356671" y="4434291"/>
            <a:ext cx="2223153" cy="470937"/>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250"/>
                </a:solidFill>
                <a:latin typeface="Arial" pitchFamily="34" charset="0"/>
                <a:ea typeface="Arial" pitchFamily="34" charset="-122"/>
                <a:cs typeface="Arial" pitchFamily="34" charset="-120"/>
              </a:rPr>
              <a:t>= 0.833: every observed point counts equally</a:t>
            </a:r>
            <a:endParaRPr lang="en-US" sz="1300" dirty="0"/>
          </a:p>
        </p:txBody>
      </p:sp>
      <p:sp>
        <p:nvSpPr>
          <p:cNvPr id="17" name="Shape 15"/>
          <p:cNvSpPr/>
          <p:nvPr/>
        </p:nvSpPr>
        <p:spPr>
          <a:xfrm>
            <a:off x="8855060" y="3958537"/>
            <a:ext cx="2521001" cy="1102588"/>
          </a:xfrm>
          <a:prstGeom prst="roundRect">
            <a:avLst>
              <a:gd name="adj" fmla="val 8927"/>
            </a:avLst>
          </a:prstGeom>
          <a:solidFill>
            <a:srgbClr val="FDFCF9"/>
          </a:solidFill>
          <a:ln w="6350">
            <a:solidFill>
              <a:srgbClr val="DCDDD6"/>
            </a:solidFill>
            <a:prstDash val="solid"/>
          </a:ln>
        </p:spPr>
        <p:txBody>
          <a:bodyPr/>
          <a:lstStyle/>
          <a:p>
            <a:endParaRPr lang="en-US"/>
          </a:p>
        </p:txBody>
      </p:sp>
      <p:sp>
        <p:nvSpPr>
          <p:cNvPr id="18" name="Text 16"/>
          <p:cNvSpPr/>
          <p:nvPr/>
        </p:nvSpPr>
        <p:spPr>
          <a:xfrm>
            <a:off x="9036360" y="4139837"/>
            <a:ext cx="2223153" cy="26914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Arial" pitchFamily="34" charset="0"/>
                <a:ea typeface="Arial" pitchFamily="34" charset="-122"/>
                <a:cs typeface="Arial" pitchFamily="34" charset="-120"/>
              </a:rPr>
              <a:t>Window 1</a:t>
            </a:r>
            <a:endParaRPr lang="en-US" sz="1600" dirty="0"/>
          </a:p>
        </p:txBody>
      </p:sp>
      <p:sp>
        <p:nvSpPr>
          <p:cNvPr id="19" name="Text 17"/>
          <p:cNvSpPr/>
          <p:nvPr/>
        </p:nvSpPr>
        <p:spPr>
          <a:xfrm>
            <a:off x="9036360" y="4434291"/>
            <a:ext cx="2223153" cy="470937"/>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250"/>
                </a:solidFill>
                <a:latin typeface="Arial" pitchFamily="34" charset="0"/>
                <a:ea typeface="Arial" pitchFamily="34" charset="-122"/>
                <a:cs typeface="Arial" pitchFamily="34" charset="-120"/>
              </a:rPr>
              <a:t>No previous forecast, so identical to baseline</a:t>
            </a:r>
            <a:endParaRPr lang="en-US" sz="1300" dirty="0"/>
          </a:p>
        </p:txBody>
      </p:sp>
      <p:sp>
        <p:nvSpPr>
          <p:cNvPr id="20" name="Text 18"/>
          <p:cNvSpPr/>
          <p:nvPr/>
        </p:nvSpPr>
        <p:spPr>
          <a:xfrm>
            <a:off x="812713" y="6238242"/>
            <a:ext cx="3476063"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JCF ensemble forecasting · AMS Fall 2026</a:t>
            </a:r>
            <a:endParaRPr lang="en-US" sz="1200" dirty="0"/>
          </a:p>
        </p:txBody>
      </p:sp>
      <p:sp>
        <p:nvSpPr>
          <p:cNvPr id="21" name="Text 19"/>
          <p:cNvSpPr/>
          <p:nvPr/>
        </p:nvSpPr>
        <p:spPr>
          <a:xfrm>
            <a:off x="11243398" y="6238242"/>
            <a:ext cx="13562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3" y="812713"/>
            <a:ext cx="10883519" cy="238778"/>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4A1A"/>
                </a:solidFill>
                <a:latin typeface="Arial" pitchFamily="34" charset="0"/>
                <a:ea typeface="Arial" pitchFamily="34" charset="-122"/>
                <a:cs typeface="Arial" pitchFamily="34" charset="-120"/>
              </a:rPr>
              <a:t>RESULTS · STEPS 1–2</a:t>
            </a:r>
            <a:endParaRPr lang="en-US" sz="1200" dirty="0"/>
          </a:p>
        </p:txBody>
      </p:sp>
      <p:sp>
        <p:nvSpPr>
          <p:cNvPr id="3" name="Text 1"/>
          <p:cNvSpPr>
            <a:spLocks noGrp="1"/>
          </p:cNvSpPr>
          <p:nvPr>
            <p:ph type="title"/>
          </p:nvPr>
        </p:nvSpPr>
        <p:spPr>
          <a:xfrm>
            <a:off x="812713" y="1102258"/>
            <a:ext cx="10883519" cy="463424"/>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No single model wins every window</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9391" y="1851740"/>
          <a:ext cx="6851250" cy="2847054"/>
        </p:xfrm>
        <a:graphic>
          <a:graphicData uri="http://schemas.openxmlformats.org/drawingml/2006/table">
            <a:tbl>
              <a:tblPr/>
              <a:tblGrid>
                <a:gridCol w="1096200">
                  <a:extLst>
                    <a:ext uri="{9D8B030D-6E8A-4147-A177-3AD203B41FA5}">
                      <a16:colId xmlns:a16="http://schemas.microsoft.com/office/drawing/2014/main" val="20000"/>
                    </a:ext>
                  </a:extLst>
                </a:gridCol>
                <a:gridCol w="2055375">
                  <a:extLst>
                    <a:ext uri="{9D8B030D-6E8A-4147-A177-3AD203B41FA5}">
                      <a16:colId xmlns:a16="http://schemas.microsoft.com/office/drawing/2014/main" val="20001"/>
                    </a:ext>
                  </a:extLst>
                </a:gridCol>
                <a:gridCol w="1233225">
                  <a:extLst>
                    <a:ext uri="{9D8B030D-6E8A-4147-A177-3AD203B41FA5}">
                      <a16:colId xmlns:a16="http://schemas.microsoft.com/office/drawing/2014/main" val="20002"/>
                    </a:ext>
                  </a:extLst>
                </a:gridCol>
                <a:gridCol w="1233225">
                  <a:extLst>
                    <a:ext uri="{9D8B030D-6E8A-4147-A177-3AD203B41FA5}">
                      <a16:colId xmlns:a16="http://schemas.microsoft.com/office/drawing/2014/main" val="20003"/>
                    </a:ext>
                  </a:extLst>
                </a:gridCol>
                <a:gridCol w="1233225">
                  <a:extLst>
                    <a:ext uri="{9D8B030D-6E8A-4147-A177-3AD203B41FA5}">
                      <a16:colId xmlns:a16="http://schemas.microsoft.com/office/drawing/2014/main" val="20004"/>
                    </a:ext>
                  </a:extLst>
                </a:gridCol>
              </a:tblGrid>
              <a:tr h="406722">
                <a:tc>
                  <a:txBody>
                    <a:bodyPr/>
                    <a:lstStyle/>
                    <a:p>
                      <a:pPr marL="0" indent="0">
                        <a:lnSpc>
                          <a:spcPts val="2100"/>
                        </a:lnSpc>
                        <a:buNone/>
                      </a:pPr>
                      <a:r>
                        <a:rPr lang="en-US" sz="1500" b="1" dirty="0">
                          <a:solidFill>
                            <a:srgbClr val="14213D"/>
                          </a:solidFill>
                          <a:latin typeface="Arial" pitchFamily="34" charset="0"/>
                          <a:ea typeface="Arial" pitchFamily="34" charset="-122"/>
                          <a:cs typeface="Arial" pitchFamily="34" charset="-120"/>
                        </a:rPr>
                        <a:t>Window</a:t>
                      </a:r>
                      <a:endParaRPr lang="en-US" sz="1500" dirty="0">
                        <a:latin typeface="Arial" charset="0"/>
                        <a:ea typeface="Arial" charset="0"/>
                        <a:cs typeface="Arial"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marL="0" indent="0">
                        <a:lnSpc>
                          <a:spcPts val="2100"/>
                        </a:lnSpc>
                        <a:buNone/>
                      </a:pPr>
                      <a:r>
                        <a:rPr lang="en-US" sz="1500" b="1" dirty="0">
                          <a:solidFill>
                            <a:srgbClr val="14213D"/>
                          </a:solidFill>
                          <a:latin typeface="Arial" pitchFamily="34" charset="0"/>
                          <a:ea typeface="Arial" pitchFamily="34" charset="-122"/>
                          <a:cs typeface="Arial" pitchFamily="34" charset="-120"/>
                        </a:rPr>
                        <a:t>Forecast weeks</a:t>
                      </a:r>
                      <a:endParaRPr lang="en-US" sz="1500" dirty="0">
                        <a:latin typeface="Arial" charset="0"/>
                        <a:ea typeface="Arial" charset="0"/>
                        <a:cs typeface="Arial" charset="0"/>
                      </a:endParaRPr>
                    </a:p>
                  </a:txBody>
                  <a:tcPr marL="66675" marR="66675" marT="66675" marB="66675">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marL="0" indent="0" algn="r">
                        <a:lnSpc>
                          <a:spcPts val="2100"/>
                        </a:lnSpc>
                        <a:buNone/>
                      </a:pPr>
                      <a:r>
                        <a:rPr lang="en-US" sz="1500" b="1" dirty="0">
                          <a:solidFill>
                            <a:srgbClr val="14213D"/>
                          </a:solidFill>
                          <a:latin typeface="Arial" pitchFamily="34" charset="0"/>
                          <a:ea typeface="Arial" pitchFamily="34" charset="-122"/>
                          <a:cs typeface="Arial" pitchFamily="34" charset="-120"/>
                        </a:rPr>
                        <a:t>GLM</a:t>
                      </a:r>
                      <a:endParaRPr lang="en-US" sz="1500" dirty="0">
                        <a:latin typeface="Arial" charset="0"/>
                        <a:ea typeface="Arial" charset="0"/>
                        <a:cs typeface="Arial" charset="0"/>
                      </a:endParaRPr>
                    </a:p>
                  </a:txBody>
                  <a:tcPr marL="66675" marR="66675" marT="66675" marB="66675">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marL="0" indent="0" algn="r">
                        <a:lnSpc>
                          <a:spcPts val="2100"/>
                        </a:lnSpc>
                        <a:buNone/>
                      </a:pPr>
                      <a:r>
                        <a:rPr lang="en-US" sz="1500" b="1" dirty="0">
                          <a:solidFill>
                            <a:srgbClr val="14213D"/>
                          </a:solidFill>
                          <a:latin typeface="Arial" pitchFamily="34" charset="0"/>
                          <a:ea typeface="Arial" pitchFamily="34" charset="-122"/>
                          <a:cs typeface="Arial" pitchFamily="34" charset="-120"/>
                        </a:rPr>
                        <a:t>Richards</a:t>
                      </a:r>
                      <a:endParaRPr lang="en-US" sz="1500" dirty="0">
                        <a:latin typeface="Arial" charset="0"/>
                        <a:ea typeface="Arial" charset="0"/>
                        <a:cs typeface="Arial" charset="0"/>
                      </a:endParaRPr>
                    </a:p>
                  </a:txBody>
                  <a:tcPr marL="66675" marR="66675" marT="66675" marB="66675">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marL="0" indent="0" algn="r">
                        <a:lnSpc>
                          <a:spcPts val="2100"/>
                        </a:lnSpc>
                        <a:buNone/>
                      </a:pPr>
                      <a:r>
                        <a:rPr lang="en-US" sz="1500" b="1" dirty="0">
                          <a:solidFill>
                            <a:srgbClr val="14213D"/>
                          </a:solidFill>
                          <a:latin typeface="Arial" pitchFamily="34" charset="0"/>
                          <a:ea typeface="Arial" pitchFamily="34" charset="-122"/>
                          <a:cs typeface="Arial" pitchFamily="34" charset="-120"/>
                        </a:rPr>
                        <a:t>Gompertz</a:t>
                      </a:r>
                      <a:endParaRPr lang="en-US" sz="1500" dirty="0">
                        <a:latin typeface="Arial" charset="0"/>
                        <a:ea typeface="Arial" charset="0"/>
                        <a:cs typeface="Arial" charset="0"/>
                      </a:endParaRPr>
                    </a:p>
                  </a:txBody>
                  <a:tcPr marL="66675" marR="66675" marT="66675" marB="66675">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extLst>
                  <a:ext uri="{0D108BD9-81ED-4DB2-BD59-A6C34878D82A}">
                    <a16:rowId xmlns:a16="http://schemas.microsoft.com/office/drawing/2014/main" val="10000"/>
                  </a:ext>
                </a:extLst>
              </a:tr>
              <a:tr h="406722">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1</a:t>
                      </a:r>
                      <a:endParaRPr lang="en-US" sz="1500" dirty="0">
                        <a:latin typeface="Arial" charset="0"/>
                        <a:ea typeface="Arial" charset="0"/>
                        <a:cs typeface="Arial"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20–23, to peak</a:t>
                      </a:r>
                      <a:endParaRPr lang="en-US" sz="1500" dirty="0">
                        <a:latin typeface="Arial" charset="0"/>
                        <a:ea typeface="Arial" charset="0"/>
                        <a:cs typeface="Arial"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gn="r">
                        <a:lnSpc>
                          <a:spcPts val="2100"/>
                        </a:lnSpc>
                        <a:buNone/>
                      </a:pPr>
                      <a:r>
                        <a:rPr lang="en-US" sz="1500" dirty="0">
                          <a:solidFill>
                            <a:srgbClr val="14213D"/>
                          </a:solidFill>
                          <a:latin typeface="Arial" pitchFamily="34" charset="0"/>
                          <a:ea typeface="Arial" pitchFamily="34" charset="-122"/>
                          <a:cs typeface="Arial" pitchFamily="34" charset="-120"/>
                        </a:rPr>
                        <a:t>11.8</a:t>
                      </a:r>
                      <a:endParaRPr lang="en-US" sz="1500" dirty="0">
                        <a:latin typeface="Arial" charset="0"/>
                        <a:ea typeface="Arial" charset="0"/>
                        <a:cs typeface="Arial"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gn="r">
                        <a:lnSpc>
                          <a:spcPts val="2100"/>
                        </a:lnSpc>
                        <a:buNone/>
                      </a:pPr>
                      <a:r>
                        <a:rPr lang="en-US" sz="1500" dirty="0">
                          <a:solidFill>
                            <a:srgbClr val="14213D"/>
                          </a:solidFill>
                          <a:latin typeface="Arial" pitchFamily="34" charset="0"/>
                          <a:ea typeface="Arial" pitchFamily="34" charset="-122"/>
                          <a:cs typeface="Arial" pitchFamily="34" charset="-120"/>
                        </a:rPr>
                        <a:t>9.1</a:t>
                      </a:r>
                      <a:endParaRPr lang="en-US" sz="1500" dirty="0">
                        <a:latin typeface="Arial" charset="0"/>
                        <a:ea typeface="Arial" charset="0"/>
                        <a:cs typeface="Arial"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gn="r">
                        <a:lnSpc>
                          <a:spcPts val="2100"/>
                        </a:lnSpc>
                        <a:buNone/>
                      </a:pPr>
                      <a:r>
                        <a:rPr lang="en-US" sz="1500" dirty="0">
                          <a:solidFill>
                            <a:srgbClr val="B54A1A"/>
                          </a:solidFill>
                          <a:latin typeface="Arial" pitchFamily="34" charset="0"/>
                          <a:ea typeface="Arial" pitchFamily="34" charset="-122"/>
                          <a:cs typeface="Arial" pitchFamily="34" charset="-120"/>
                        </a:rPr>
                        <a:t>7.0</a:t>
                      </a:r>
                      <a:endParaRPr lang="en-US" sz="1500" dirty="0">
                        <a:latin typeface="Arial" charset="0"/>
                        <a:ea typeface="Arial" charset="0"/>
                        <a:cs typeface="Arial"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1"/>
                  </a:ext>
                </a:extLst>
              </a:tr>
              <a:tr h="406722">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2</a:t>
                      </a:r>
                      <a:endParaRPr lang="en-US" sz="1500" dirty="0">
                        <a:latin typeface="Arial" charset="0"/>
                        <a:ea typeface="Arial" charset="0"/>
                        <a:cs typeface="Arial"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0B6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0B6B0"/>
                      </a:solidFill>
                      <a:prstDash val="solid"/>
                      <a:round/>
                      <a:headEnd type="none" w="med" len="med"/>
                      <a:tailEnd type="none" w="med" len="med"/>
                    </a:lnB>
                    <a:solidFill>
                      <a:srgbClr val="F1E4DC"/>
                    </a:solidFill>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24–27, after peak</a:t>
                      </a:r>
                      <a:endParaRPr lang="en-US" sz="1500" dirty="0">
                        <a:latin typeface="Arial" charset="0"/>
                        <a:ea typeface="Arial" charset="0"/>
                        <a:cs typeface="Arial" charset="0"/>
                      </a:endParaRPr>
                    </a:p>
                  </a:txBody>
                  <a:tcPr marL="66675" marR="66675" marT="66675" marB="66675">
                    <a:lnL w="12700" cap="flat" cmpd="sng" algn="ctr">
                      <a:solidFill>
                        <a:srgbClr val="C0B6B0"/>
                      </a:solidFill>
                      <a:prstDash val="solid"/>
                      <a:round/>
                      <a:headEnd type="none" w="med" len="med"/>
                      <a:tailEnd type="none" w="med" len="med"/>
                    </a:lnL>
                    <a:lnR w="12700" cap="flat" cmpd="sng" algn="ctr">
                      <a:solidFill>
                        <a:srgbClr val="C0B6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0B6B0"/>
                      </a:solidFill>
                      <a:prstDash val="solid"/>
                      <a:round/>
                      <a:headEnd type="none" w="med" len="med"/>
                      <a:tailEnd type="none" w="med" len="med"/>
                    </a:lnB>
                    <a:solidFill>
                      <a:srgbClr val="F1E4DC"/>
                    </a:solidFill>
                  </a:tcPr>
                </a:tc>
                <a:tc>
                  <a:txBody>
                    <a:bodyPr/>
                    <a:lstStyle/>
                    <a:p>
                      <a:pPr marL="0" indent="0" algn="r">
                        <a:lnSpc>
                          <a:spcPts val="2100"/>
                        </a:lnSpc>
                        <a:buNone/>
                      </a:pPr>
                      <a:r>
                        <a:rPr lang="en-US" sz="1500" dirty="0">
                          <a:solidFill>
                            <a:srgbClr val="B54A1A"/>
                          </a:solidFill>
                          <a:latin typeface="Arial" pitchFamily="34" charset="0"/>
                          <a:ea typeface="Arial" pitchFamily="34" charset="-122"/>
                          <a:cs typeface="Arial" pitchFamily="34" charset="-120"/>
                        </a:rPr>
                        <a:t>73.8</a:t>
                      </a:r>
                      <a:endParaRPr lang="en-US" sz="1500" dirty="0">
                        <a:latin typeface="Arial" charset="0"/>
                        <a:ea typeface="Arial" charset="0"/>
                        <a:cs typeface="Arial" charset="0"/>
                      </a:endParaRPr>
                    </a:p>
                  </a:txBody>
                  <a:tcPr marL="66675" marR="66675" marT="66675" marB="66675">
                    <a:lnL w="12700" cap="flat" cmpd="sng" algn="ctr">
                      <a:solidFill>
                        <a:srgbClr val="C0B6B0"/>
                      </a:solidFill>
                      <a:prstDash val="solid"/>
                      <a:round/>
                      <a:headEnd type="none" w="med" len="med"/>
                      <a:tailEnd type="none" w="med" len="med"/>
                    </a:lnL>
                    <a:lnR w="12700" cap="flat" cmpd="sng" algn="ctr">
                      <a:solidFill>
                        <a:srgbClr val="C0B6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0B6B0"/>
                      </a:solidFill>
                      <a:prstDash val="solid"/>
                      <a:round/>
                      <a:headEnd type="none" w="med" len="med"/>
                      <a:tailEnd type="none" w="med" len="med"/>
                    </a:lnB>
                    <a:solidFill>
                      <a:srgbClr val="F1E4DC"/>
                    </a:solidFill>
                  </a:tcPr>
                </a:tc>
                <a:tc>
                  <a:txBody>
                    <a:bodyPr/>
                    <a:lstStyle/>
                    <a:p>
                      <a:pPr marL="0" indent="0" algn="r">
                        <a:lnSpc>
                          <a:spcPts val="2100"/>
                        </a:lnSpc>
                        <a:buNone/>
                      </a:pPr>
                      <a:r>
                        <a:rPr lang="en-US" sz="1500" dirty="0">
                          <a:solidFill>
                            <a:srgbClr val="14213D"/>
                          </a:solidFill>
                          <a:latin typeface="Arial" pitchFamily="34" charset="0"/>
                          <a:ea typeface="Arial" pitchFamily="34" charset="-122"/>
                          <a:cs typeface="Arial" pitchFamily="34" charset="-120"/>
                        </a:rPr>
                        <a:t>85.5</a:t>
                      </a:r>
                      <a:endParaRPr lang="en-US" sz="1500" dirty="0">
                        <a:latin typeface="Arial" charset="0"/>
                        <a:ea typeface="Arial" charset="0"/>
                        <a:cs typeface="Arial" charset="0"/>
                      </a:endParaRPr>
                    </a:p>
                  </a:txBody>
                  <a:tcPr marL="66675" marR="66675" marT="66675" marB="66675">
                    <a:lnL w="12700" cap="flat" cmpd="sng" algn="ctr">
                      <a:solidFill>
                        <a:srgbClr val="C0B6B0"/>
                      </a:solidFill>
                      <a:prstDash val="solid"/>
                      <a:round/>
                      <a:headEnd type="none" w="med" len="med"/>
                      <a:tailEnd type="none" w="med" len="med"/>
                    </a:lnL>
                    <a:lnR w="12700" cap="flat" cmpd="sng" algn="ctr">
                      <a:solidFill>
                        <a:srgbClr val="C0B6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0B6B0"/>
                      </a:solidFill>
                      <a:prstDash val="solid"/>
                      <a:round/>
                      <a:headEnd type="none" w="med" len="med"/>
                      <a:tailEnd type="none" w="med" len="med"/>
                    </a:lnB>
                    <a:solidFill>
                      <a:srgbClr val="F1E4DC"/>
                    </a:solidFill>
                  </a:tcPr>
                </a:tc>
                <a:tc>
                  <a:txBody>
                    <a:bodyPr/>
                    <a:lstStyle/>
                    <a:p>
                      <a:pPr marL="0" indent="0" algn="r">
                        <a:lnSpc>
                          <a:spcPts val="2100"/>
                        </a:lnSpc>
                        <a:buNone/>
                      </a:pPr>
                      <a:r>
                        <a:rPr lang="en-US" sz="1500" dirty="0">
                          <a:solidFill>
                            <a:srgbClr val="14213D"/>
                          </a:solidFill>
                          <a:latin typeface="Arial" pitchFamily="34" charset="0"/>
                          <a:ea typeface="Arial" pitchFamily="34" charset="-122"/>
                          <a:cs typeface="Arial" pitchFamily="34" charset="-120"/>
                        </a:rPr>
                        <a:t>98.5</a:t>
                      </a:r>
                      <a:endParaRPr lang="en-US" sz="1500" dirty="0">
                        <a:latin typeface="Arial" charset="0"/>
                        <a:ea typeface="Arial" charset="0"/>
                        <a:cs typeface="Arial" charset="0"/>
                      </a:endParaRPr>
                    </a:p>
                  </a:txBody>
                  <a:tcPr marL="66675" marR="66675" marT="66675" marB="66675">
                    <a:lnL w="12700" cap="flat" cmpd="sng" algn="ctr">
                      <a:solidFill>
                        <a:srgbClr val="C0B6B0"/>
                      </a:solidFill>
                      <a:prstDash val="solid"/>
                      <a:round/>
                      <a:headEnd type="none" w="med" len="med"/>
                      <a:tailEnd type="none" w="med" len="med"/>
                    </a:lnL>
                    <a:lnR w="12700" cap="flat" cmpd="sng" algn="ctr">
                      <a:solidFill>
                        <a:srgbClr val="C0B6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0B6B0"/>
                      </a:solidFill>
                      <a:prstDash val="solid"/>
                      <a:round/>
                      <a:headEnd type="none" w="med" len="med"/>
                      <a:tailEnd type="none" w="med" len="med"/>
                    </a:lnB>
                    <a:solidFill>
                      <a:srgbClr val="F1E4DC"/>
                    </a:solidFill>
                  </a:tcPr>
                </a:tc>
                <a:extLst>
                  <a:ext uri="{0D108BD9-81ED-4DB2-BD59-A6C34878D82A}">
                    <a16:rowId xmlns:a16="http://schemas.microsoft.com/office/drawing/2014/main" val="10002"/>
                  </a:ext>
                </a:extLst>
              </a:tr>
              <a:tr h="406722">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3</a:t>
                      </a:r>
                      <a:endParaRPr lang="en-US" sz="1500" dirty="0">
                        <a:latin typeface="Arial" charset="0"/>
                        <a:ea typeface="Arial" charset="0"/>
                        <a:cs typeface="Arial"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0B6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28–31</a:t>
                      </a:r>
                      <a:endParaRPr lang="en-US" sz="1500" dirty="0">
                        <a:latin typeface="Arial" charset="0"/>
                        <a:ea typeface="Arial" charset="0"/>
                        <a:cs typeface="Arial"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0B6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gn="r">
                        <a:lnSpc>
                          <a:spcPts val="2100"/>
                        </a:lnSpc>
                        <a:buNone/>
                      </a:pPr>
                      <a:r>
                        <a:rPr lang="en-US" sz="1500" dirty="0">
                          <a:solidFill>
                            <a:srgbClr val="14213D"/>
                          </a:solidFill>
                          <a:latin typeface="Arial" pitchFamily="34" charset="0"/>
                          <a:ea typeface="Arial" pitchFamily="34" charset="-122"/>
                          <a:cs typeface="Arial" pitchFamily="34" charset="-120"/>
                        </a:rPr>
                        <a:t>10.9</a:t>
                      </a:r>
                      <a:endParaRPr lang="en-US" sz="1500" dirty="0">
                        <a:latin typeface="Arial" charset="0"/>
                        <a:ea typeface="Arial" charset="0"/>
                        <a:cs typeface="Arial"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0B6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gn="r">
                        <a:lnSpc>
                          <a:spcPts val="2100"/>
                        </a:lnSpc>
                        <a:buNone/>
                      </a:pPr>
                      <a:r>
                        <a:rPr lang="en-US" sz="1500" dirty="0">
                          <a:solidFill>
                            <a:srgbClr val="B54A1A"/>
                          </a:solidFill>
                          <a:latin typeface="Arial" pitchFamily="34" charset="0"/>
                          <a:ea typeface="Arial" pitchFamily="34" charset="-122"/>
                          <a:cs typeface="Arial" pitchFamily="34" charset="-120"/>
                        </a:rPr>
                        <a:t>10.8</a:t>
                      </a:r>
                      <a:endParaRPr lang="en-US" sz="1500" dirty="0">
                        <a:latin typeface="Arial" charset="0"/>
                        <a:ea typeface="Arial" charset="0"/>
                        <a:cs typeface="Arial"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0B6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gn="r">
                        <a:lnSpc>
                          <a:spcPts val="2100"/>
                        </a:lnSpc>
                        <a:buNone/>
                      </a:pPr>
                      <a:r>
                        <a:rPr lang="en-US" sz="1500" dirty="0">
                          <a:solidFill>
                            <a:srgbClr val="14213D"/>
                          </a:solidFill>
                          <a:latin typeface="Arial" pitchFamily="34" charset="0"/>
                          <a:ea typeface="Arial" pitchFamily="34" charset="-122"/>
                          <a:cs typeface="Arial" pitchFamily="34" charset="-120"/>
                        </a:rPr>
                        <a:t>46.7</a:t>
                      </a:r>
                      <a:endParaRPr lang="en-US" sz="1500" dirty="0">
                        <a:latin typeface="Arial" charset="0"/>
                        <a:ea typeface="Arial" charset="0"/>
                        <a:cs typeface="Arial"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0B6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3"/>
                  </a:ext>
                </a:extLst>
              </a:tr>
              <a:tr h="406722">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32–35</a:t>
                      </a:r>
                      <a:endParaRPr lang="en-US" sz="1500" dirty="0">
                        <a:latin typeface="Arial" charset="0"/>
                        <a:ea typeface="Arial" charset="0"/>
                        <a:cs typeface="Arial"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gn="r">
                        <a:lnSpc>
                          <a:spcPts val="2100"/>
                        </a:lnSpc>
                        <a:buNone/>
                      </a:pPr>
                      <a:r>
                        <a:rPr lang="en-US" sz="1500" dirty="0">
                          <a:solidFill>
                            <a:srgbClr val="14213D"/>
                          </a:solidFill>
                          <a:latin typeface="Arial" pitchFamily="34" charset="0"/>
                          <a:ea typeface="Arial" pitchFamily="34" charset="-122"/>
                          <a:cs typeface="Arial" pitchFamily="34" charset="-120"/>
                        </a:rPr>
                        <a:t>27.6</a:t>
                      </a:r>
                      <a:endParaRPr lang="en-US" sz="1500" dirty="0">
                        <a:latin typeface="Arial" charset="0"/>
                        <a:ea typeface="Arial" charset="0"/>
                        <a:cs typeface="Arial"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gn="r">
                        <a:lnSpc>
                          <a:spcPts val="2100"/>
                        </a:lnSpc>
                        <a:buNone/>
                      </a:pPr>
                      <a:r>
                        <a:rPr lang="en-US" sz="1500" dirty="0">
                          <a:solidFill>
                            <a:srgbClr val="B54A1A"/>
                          </a:solidFill>
                          <a:latin typeface="Arial" pitchFamily="34" charset="0"/>
                          <a:ea typeface="Arial" pitchFamily="34" charset="-122"/>
                          <a:cs typeface="Arial" pitchFamily="34" charset="-120"/>
                        </a:rPr>
                        <a:t>25.6</a:t>
                      </a:r>
                      <a:endParaRPr lang="en-US" sz="1500" dirty="0">
                        <a:latin typeface="Arial" charset="0"/>
                        <a:ea typeface="Arial" charset="0"/>
                        <a:cs typeface="Arial"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gn="r">
                        <a:lnSpc>
                          <a:spcPts val="2100"/>
                        </a:lnSpc>
                        <a:buNone/>
                      </a:pPr>
                      <a:r>
                        <a:rPr lang="en-US" sz="1500" dirty="0">
                          <a:solidFill>
                            <a:srgbClr val="14213D"/>
                          </a:solidFill>
                          <a:latin typeface="Arial" pitchFamily="34" charset="0"/>
                          <a:ea typeface="Arial" pitchFamily="34" charset="-122"/>
                          <a:cs typeface="Arial" pitchFamily="34" charset="-120"/>
                        </a:rPr>
                        <a:t>41.9</a:t>
                      </a:r>
                      <a:endParaRPr lang="en-US" sz="1500" dirty="0">
                        <a:latin typeface="Arial" charset="0"/>
                        <a:ea typeface="Arial" charset="0"/>
                        <a:cs typeface="Arial"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4"/>
                  </a:ext>
                </a:extLst>
              </a:tr>
              <a:tr h="406722">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5</a:t>
                      </a:r>
                      <a:endParaRPr lang="en-US" sz="1500" dirty="0">
                        <a:latin typeface="Arial" charset="0"/>
                        <a:ea typeface="Arial" charset="0"/>
                        <a:cs typeface="Arial"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36–39</a:t>
                      </a:r>
                      <a:endParaRPr lang="en-US" sz="1500" dirty="0">
                        <a:latin typeface="Arial" charset="0"/>
                        <a:ea typeface="Arial" charset="0"/>
                        <a:cs typeface="Arial"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gn="r">
                        <a:lnSpc>
                          <a:spcPts val="2100"/>
                        </a:lnSpc>
                        <a:buNone/>
                      </a:pPr>
                      <a:r>
                        <a:rPr lang="en-US" sz="1500" dirty="0">
                          <a:solidFill>
                            <a:srgbClr val="14213D"/>
                          </a:solidFill>
                          <a:latin typeface="Arial" pitchFamily="34" charset="0"/>
                          <a:ea typeface="Arial" pitchFamily="34" charset="-122"/>
                          <a:cs typeface="Arial" pitchFamily="34" charset="-120"/>
                        </a:rPr>
                        <a:t>42.7</a:t>
                      </a:r>
                      <a:endParaRPr lang="en-US" sz="1500" dirty="0">
                        <a:latin typeface="Arial" charset="0"/>
                        <a:ea typeface="Arial" charset="0"/>
                        <a:cs typeface="Arial"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gn="r">
                        <a:lnSpc>
                          <a:spcPts val="2100"/>
                        </a:lnSpc>
                        <a:buNone/>
                      </a:pPr>
                      <a:r>
                        <a:rPr lang="en-US" sz="1500" dirty="0">
                          <a:solidFill>
                            <a:srgbClr val="B54A1A"/>
                          </a:solidFill>
                          <a:latin typeface="Arial" pitchFamily="34" charset="0"/>
                          <a:ea typeface="Arial" pitchFamily="34" charset="-122"/>
                          <a:cs typeface="Arial" pitchFamily="34" charset="-120"/>
                        </a:rPr>
                        <a:t>40.3</a:t>
                      </a:r>
                      <a:endParaRPr lang="en-US" sz="1500" dirty="0">
                        <a:latin typeface="Arial" charset="0"/>
                        <a:ea typeface="Arial" charset="0"/>
                        <a:cs typeface="Arial"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gn="r">
                        <a:lnSpc>
                          <a:spcPts val="2100"/>
                        </a:lnSpc>
                        <a:buNone/>
                      </a:pPr>
                      <a:r>
                        <a:rPr lang="en-US" sz="1500" dirty="0">
                          <a:solidFill>
                            <a:srgbClr val="14213D"/>
                          </a:solidFill>
                          <a:latin typeface="Arial" pitchFamily="34" charset="0"/>
                          <a:ea typeface="Arial" pitchFamily="34" charset="-122"/>
                          <a:cs typeface="Arial" pitchFamily="34" charset="-120"/>
                        </a:rPr>
                        <a:t>52.5</a:t>
                      </a:r>
                      <a:endParaRPr lang="en-US" sz="1500" dirty="0">
                        <a:latin typeface="Arial" charset="0"/>
                        <a:ea typeface="Arial" charset="0"/>
                        <a:cs typeface="Arial"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5"/>
                  </a:ext>
                </a:extLst>
              </a:tr>
              <a:tr h="406722">
                <a:tc>
                  <a:txBody>
                    <a:bodyPr/>
                    <a:lstStyle/>
                    <a:p>
                      <a:pPr marL="0" indent="0">
                        <a:lnSpc>
                          <a:spcPts val="2100"/>
                        </a:lnSpc>
                        <a:buNone/>
                      </a:pPr>
                      <a:r>
                        <a:rPr lang="en-US" sz="1500" dirty="0">
                          <a:solidFill>
                            <a:srgbClr val="14213D"/>
                          </a:solidFill>
                          <a:latin typeface="Arial" pitchFamily="34" charset="0"/>
                          <a:ea typeface="Arial" pitchFamily="34" charset="-122"/>
                          <a:cs typeface="Arial" pitchFamily="34" charset="-120"/>
                        </a:rPr>
                        <a:t>Mean</a:t>
                      </a:r>
                      <a:endParaRPr lang="en-US" sz="1500" dirty="0">
                        <a:latin typeface="Arial" charset="0"/>
                        <a:ea typeface="Arial" charset="0"/>
                        <a:cs typeface="Arial" charset="0"/>
                      </a:endParaRPr>
                    </a:p>
                  </a:txBody>
                  <a:tcPr marL="66675" marR="66675" marT="66675" marB="66675">
                    <a:lnL w="12700" cap="flat" cmpd="sng" algn="ctr">
                      <a:solidFill>
                        <a:srgbClr val="C4C4BF"/>
                      </a:solidFill>
                      <a:prstDash val="solid"/>
                      <a:round/>
                      <a:headEnd type="none" w="med" len="med"/>
                      <a:tailEnd type="none" w="med" len="med"/>
                    </a:lnL>
                    <a:lnR w="12700" cap="flat" cmpd="sng" algn="ctr">
                      <a:solidFill>
                        <a:srgbClr val="B8BABE"/>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8BABE"/>
                      </a:solidFill>
                      <a:prstDash val="solid"/>
                      <a:round/>
                      <a:headEnd type="none" w="med" len="med"/>
                      <a:tailEnd type="none" w="med" len="med"/>
                    </a:lnB>
                    <a:solidFill>
                      <a:srgbClr val="E6E9EE"/>
                    </a:solidFill>
                  </a:tcPr>
                </a:tc>
                <a:tc>
                  <a:txBody>
                    <a:bodyPr/>
                    <a:lstStyle/>
                    <a:p>
                      <a:pPr marL="0" indent="0">
                        <a:lnSpc>
                          <a:spcPts val="2100"/>
                        </a:lnSpc>
                        <a:buNone/>
                      </a:pPr>
                      <a:endParaRPr lang="en-US" sz="1500" dirty="0">
                        <a:latin typeface="Arial" charset="0"/>
                        <a:ea typeface="Arial" charset="0"/>
                        <a:cs typeface="Arial" charset="0"/>
                      </a:endParaRPr>
                    </a:p>
                  </a:txBody>
                  <a:tcPr marL="66675" marR="66675" marT="66675" marB="66675">
                    <a:lnL w="12700" cap="flat" cmpd="sng" algn="ctr">
                      <a:solidFill>
                        <a:srgbClr val="B8BABE"/>
                      </a:solidFill>
                      <a:prstDash val="solid"/>
                      <a:round/>
                      <a:headEnd type="none" w="med" len="med"/>
                      <a:tailEnd type="none" w="med" len="med"/>
                    </a:lnL>
                    <a:lnR w="12700" cap="flat" cmpd="sng" algn="ctr">
                      <a:solidFill>
                        <a:srgbClr val="B8BABE"/>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8BABE"/>
                      </a:solidFill>
                      <a:prstDash val="solid"/>
                      <a:round/>
                      <a:headEnd type="none" w="med" len="med"/>
                      <a:tailEnd type="none" w="med" len="med"/>
                    </a:lnB>
                    <a:solidFill>
                      <a:srgbClr val="E6E9EE"/>
                    </a:solidFill>
                  </a:tcPr>
                </a:tc>
                <a:tc>
                  <a:txBody>
                    <a:bodyPr/>
                    <a:lstStyle/>
                    <a:p>
                      <a:pPr marL="0" indent="0" algn="r">
                        <a:lnSpc>
                          <a:spcPts val="2100"/>
                        </a:lnSpc>
                        <a:buNone/>
                      </a:pPr>
                      <a:r>
                        <a:rPr lang="en-US" sz="1500" dirty="0">
                          <a:solidFill>
                            <a:srgbClr val="B54A1A"/>
                          </a:solidFill>
                          <a:latin typeface="Arial" pitchFamily="34" charset="0"/>
                          <a:ea typeface="Arial" pitchFamily="34" charset="-122"/>
                          <a:cs typeface="Arial" pitchFamily="34" charset="-120"/>
                        </a:rPr>
                        <a:t>33.4</a:t>
                      </a:r>
                      <a:endParaRPr lang="en-US" sz="1500" dirty="0">
                        <a:latin typeface="Arial" charset="0"/>
                        <a:ea typeface="Arial" charset="0"/>
                        <a:cs typeface="Arial" charset="0"/>
                      </a:endParaRPr>
                    </a:p>
                  </a:txBody>
                  <a:tcPr marL="66675" marR="66675" marT="66675" marB="66675">
                    <a:lnL w="12700" cap="flat" cmpd="sng" algn="ctr">
                      <a:solidFill>
                        <a:srgbClr val="B8BABE"/>
                      </a:solidFill>
                      <a:prstDash val="solid"/>
                      <a:round/>
                      <a:headEnd type="none" w="med" len="med"/>
                      <a:tailEnd type="none" w="med" len="med"/>
                    </a:lnL>
                    <a:lnR w="12700" cap="flat" cmpd="sng" algn="ctr">
                      <a:solidFill>
                        <a:srgbClr val="B8BABE"/>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8BABE"/>
                      </a:solidFill>
                      <a:prstDash val="solid"/>
                      <a:round/>
                      <a:headEnd type="none" w="med" len="med"/>
                      <a:tailEnd type="none" w="med" len="med"/>
                    </a:lnB>
                    <a:solidFill>
                      <a:srgbClr val="E6E9EE"/>
                    </a:solidFill>
                  </a:tcPr>
                </a:tc>
                <a:tc>
                  <a:txBody>
                    <a:bodyPr/>
                    <a:lstStyle/>
                    <a:p>
                      <a:pPr marL="0" indent="0" algn="r">
                        <a:lnSpc>
                          <a:spcPts val="2100"/>
                        </a:lnSpc>
                        <a:buNone/>
                      </a:pPr>
                      <a:r>
                        <a:rPr lang="en-US" sz="1500" dirty="0">
                          <a:solidFill>
                            <a:srgbClr val="14213D"/>
                          </a:solidFill>
                          <a:latin typeface="Arial" pitchFamily="34" charset="0"/>
                          <a:ea typeface="Arial" pitchFamily="34" charset="-122"/>
                          <a:cs typeface="Arial" pitchFamily="34" charset="-120"/>
                        </a:rPr>
                        <a:t>34.2</a:t>
                      </a:r>
                      <a:endParaRPr lang="en-US" sz="1500" dirty="0">
                        <a:latin typeface="Arial" charset="0"/>
                        <a:ea typeface="Arial" charset="0"/>
                        <a:cs typeface="Arial" charset="0"/>
                      </a:endParaRPr>
                    </a:p>
                  </a:txBody>
                  <a:tcPr marL="66675" marR="66675" marT="66675" marB="66675">
                    <a:lnL w="12700" cap="flat" cmpd="sng" algn="ctr">
                      <a:solidFill>
                        <a:srgbClr val="B8BABE"/>
                      </a:solidFill>
                      <a:prstDash val="solid"/>
                      <a:round/>
                      <a:headEnd type="none" w="med" len="med"/>
                      <a:tailEnd type="none" w="med" len="med"/>
                    </a:lnL>
                    <a:lnR w="12700" cap="flat" cmpd="sng" algn="ctr">
                      <a:solidFill>
                        <a:srgbClr val="B8BABE"/>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8BABE"/>
                      </a:solidFill>
                      <a:prstDash val="solid"/>
                      <a:round/>
                      <a:headEnd type="none" w="med" len="med"/>
                      <a:tailEnd type="none" w="med" len="med"/>
                    </a:lnB>
                    <a:solidFill>
                      <a:srgbClr val="E6E9EE"/>
                    </a:solidFill>
                  </a:tcPr>
                </a:tc>
                <a:tc>
                  <a:txBody>
                    <a:bodyPr/>
                    <a:lstStyle/>
                    <a:p>
                      <a:pPr marL="0" indent="0" algn="r">
                        <a:lnSpc>
                          <a:spcPts val="2100"/>
                        </a:lnSpc>
                        <a:buNone/>
                      </a:pPr>
                      <a:r>
                        <a:rPr lang="en-US" sz="1500" dirty="0">
                          <a:solidFill>
                            <a:srgbClr val="14213D"/>
                          </a:solidFill>
                          <a:latin typeface="Arial" pitchFamily="34" charset="0"/>
                          <a:ea typeface="Arial" pitchFamily="34" charset="-122"/>
                          <a:cs typeface="Arial" pitchFamily="34" charset="-120"/>
                        </a:rPr>
                        <a:t>49.3</a:t>
                      </a:r>
                      <a:endParaRPr lang="en-US" sz="1500" dirty="0">
                        <a:latin typeface="Arial" charset="0"/>
                        <a:ea typeface="Arial" charset="0"/>
                        <a:cs typeface="Arial" charset="0"/>
                      </a:endParaRPr>
                    </a:p>
                  </a:txBody>
                  <a:tcPr marL="66675" marR="66675" marT="66675" marB="66675">
                    <a:lnL w="12700" cap="flat" cmpd="sng" algn="ctr">
                      <a:solidFill>
                        <a:srgbClr val="B8BABE"/>
                      </a:solidFill>
                      <a:prstDash val="solid"/>
                      <a:round/>
                      <a:headEnd type="none" w="med" len="med"/>
                      <a:tailEnd type="none" w="med" len="med"/>
                    </a:lnL>
                    <a:lnR w="12700" cap="flat" cmpd="sng" algn="ctr">
                      <a:solidFill>
                        <a:srgbClr val="B8BABE"/>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8BABE"/>
                      </a:solidFill>
                      <a:prstDash val="solid"/>
                      <a:round/>
                      <a:headEnd type="none" w="med" len="med"/>
                      <a:tailEnd type="none" w="med" len="med"/>
                    </a:lnB>
                    <a:solidFill>
                      <a:srgbClr val="E6E9EE"/>
                    </a:solidFill>
                  </a:tcPr>
                </a:tc>
                <a:extLst>
                  <a:ext uri="{0D108BD9-81ED-4DB2-BD59-A6C34878D82A}">
                    <a16:rowId xmlns:a16="http://schemas.microsoft.com/office/drawing/2014/main" val="10006"/>
                  </a:ext>
                </a:extLst>
              </a:tr>
            </a:tbl>
          </a:graphicData>
        </a:graphic>
      </p:graphicFrame>
      <p:sp>
        <p:nvSpPr>
          <p:cNvPr id="5" name="Text 2"/>
          <p:cNvSpPr/>
          <p:nvPr/>
        </p:nvSpPr>
        <p:spPr>
          <a:xfrm>
            <a:off x="812713" y="4800318"/>
            <a:ext cx="7063664"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262"/>
                </a:solidFill>
                <a:latin typeface="Arial" pitchFamily="34" charset="0"/>
                <a:ea typeface="Arial" pitchFamily="34" charset="-122"/>
                <a:cs typeface="Arial" pitchFamily="34" charset="-120"/>
              </a:rPr>
              <a:t>Forecast WIS, lower is better. Bold = best model in that window.</a:t>
            </a:r>
            <a:endParaRPr lang="en-US" sz="1200" dirty="0"/>
          </a:p>
        </p:txBody>
      </p:sp>
      <p:sp>
        <p:nvSpPr>
          <p:cNvPr id="6" name="Text 3"/>
          <p:cNvSpPr/>
          <p:nvPr/>
        </p:nvSpPr>
        <p:spPr>
          <a:xfrm>
            <a:off x="8026234" y="1845063"/>
            <a:ext cx="3453593" cy="558792"/>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A4250"/>
                </a:solidFill>
                <a:latin typeface="Arial" pitchFamily="34" charset="0"/>
                <a:ea typeface="Arial" pitchFamily="34" charset="-122"/>
                <a:cs typeface="Arial" pitchFamily="34" charset="-120"/>
              </a:rPr>
              <a:t>Gompertz</a:t>
            </a:r>
            <a:r>
              <a:rPr lang="en-US" sz="1500" dirty="0">
                <a:solidFill>
                  <a:srgbClr val="3A4250"/>
                </a:solidFill>
                <a:latin typeface="Arial" pitchFamily="34" charset="0"/>
                <a:ea typeface="Arial" pitchFamily="34" charset="-122"/>
                <a:cs typeface="Arial" pitchFamily="34" charset="-120"/>
              </a:rPr>
              <a:t> goes from best in window 1 to clearly worst in windows 3–5.</a:t>
            </a:r>
            <a:endParaRPr lang="en-US" sz="1500" dirty="0"/>
          </a:p>
        </p:txBody>
      </p:sp>
      <p:sp>
        <p:nvSpPr>
          <p:cNvPr id="7" name="Text 4"/>
          <p:cNvSpPr/>
          <p:nvPr/>
        </p:nvSpPr>
        <p:spPr>
          <a:xfrm>
            <a:off x="8026234" y="2556253"/>
            <a:ext cx="3453593" cy="558792"/>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A4250"/>
                </a:solidFill>
                <a:latin typeface="Arial" pitchFamily="34" charset="0"/>
                <a:ea typeface="Arial" pitchFamily="34" charset="-122"/>
                <a:cs typeface="Arial" pitchFamily="34" charset="-120"/>
              </a:rPr>
              <a:t>Window 2</a:t>
            </a:r>
            <a:r>
              <a:rPr lang="en-US" sz="1500" dirty="0">
                <a:solidFill>
                  <a:srgbClr val="3A4250"/>
                </a:solidFill>
                <a:latin typeface="Arial" pitchFamily="34" charset="0"/>
                <a:ea typeface="Arial" pitchFamily="34" charset="-122"/>
                <a:cs typeface="Arial" pitchFamily="34" charset="-120"/>
              </a:rPr>
              <a:t> is hard for every model: WIS jumps 6–14× from window 1.</a:t>
            </a:r>
            <a:endParaRPr lang="en-US" sz="1500" dirty="0"/>
          </a:p>
        </p:txBody>
      </p:sp>
      <p:sp>
        <p:nvSpPr>
          <p:cNvPr id="8" name="Text 5"/>
          <p:cNvSpPr/>
          <p:nvPr/>
        </p:nvSpPr>
        <p:spPr>
          <a:xfrm>
            <a:off x="8026234" y="3267444"/>
            <a:ext cx="3453593" cy="825488"/>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A4250"/>
                </a:solidFill>
                <a:latin typeface="Arial" pitchFamily="34" charset="0"/>
                <a:ea typeface="Arial" pitchFamily="34" charset="-122"/>
                <a:cs typeface="Arial" pitchFamily="34" charset="-120"/>
              </a:rPr>
              <a:t>AICc and calibration WIS pick the same model in every window, so calibration-only weights reward in-sample fit.</a:t>
            </a:r>
            <a:endParaRPr lang="en-US" sz="1500" dirty="0"/>
          </a:p>
        </p:txBody>
      </p:sp>
      <p:sp>
        <p:nvSpPr>
          <p:cNvPr id="9" name="Text 6"/>
          <p:cNvSpPr/>
          <p:nvPr/>
        </p:nvSpPr>
        <p:spPr>
          <a:xfrm>
            <a:off x="812713" y="6238242"/>
            <a:ext cx="3476063"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JCF ensemble forecasting · AMS Fall 2026</a:t>
            </a:r>
            <a:endParaRPr lang="en-US" sz="1200" dirty="0"/>
          </a:p>
        </p:txBody>
      </p:sp>
      <p:sp>
        <p:nvSpPr>
          <p:cNvPr id="10" name="Text 7"/>
          <p:cNvSpPr/>
          <p:nvPr/>
        </p:nvSpPr>
        <p:spPr>
          <a:xfrm>
            <a:off x="11243398" y="6238242"/>
            <a:ext cx="13562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3" y="812713"/>
            <a:ext cx="10883519" cy="235126"/>
          </a:xfrm>
          <a:prstGeom prst="rect">
            <a:avLst/>
          </a:prstGeom>
          <a:noFill/>
          <a:ln/>
        </p:spPr>
        <p:txBody>
          <a:bodyPr wrap="square" lIns="0" tIns="0" rIns="0" bIns="0" rtlCol="0" anchor="t">
            <a:normAutofit/>
          </a:bodyPr>
          <a:lstStyle/>
          <a:p>
            <a:pPr marL="0" indent="0" algn="l">
              <a:lnSpc>
                <a:spcPts val="1675"/>
              </a:lnSpc>
              <a:buNone/>
            </a:pPr>
            <a:r>
              <a:rPr lang="en-US" sz="1196" b="1" kern="0" spc="100" dirty="0">
                <a:solidFill>
                  <a:srgbClr val="B54A1A"/>
                </a:solidFill>
                <a:latin typeface="Arial" pitchFamily="34" charset="0"/>
                <a:ea typeface="Arial" pitchFamily="34" charset="-122"/>
                <a:cs typeface="Arial" pitchFamily="34" charset="-120"/>
              </a:rPr>
              <a:t>RESULTS · THE TURNING POINT</a:t>
            </a:r>
            <a:endParaRPr lang="en-US" sz="1196" dirty="0"/>
          </a:p>
        </p:txBody>
      </p:sp>
      <p:sp>
        <p:nvSpPr>
          <p:cNvPr id="3" name="Text 1"/>
          <p:cNvSpPr>
            <a:spLocks noGrp="1"/>
          </p:cNvSpPr>
          <p:nvPr>
            <p:ph type="title"/>
          </p:nvPr>
        </p:nvSpPr>
        <p:spPr>
          <a:xfrm>
            <a:off x="812713" y="1098609"/>
            <a:ext cx="10883519" cy="455807"/>
          </a:xfrm>
          <a:prstGeom prst="rect">
            <a:avLst/>
          </a:prstGeom>
          <a:noFill/>
          <a:ln/>
        </p:spPr>
        <p:txBody>
          <a:bodyPr wrap="square" lIns="0" tIns="0" rIns="0" bIns="0" rtlCol="0" anchor="t">
            <a:normAutofit/>
          </a:bodyPr>
          <a:lstStyle/>
          <a:p>
            <a:pPr marL="0" indent="0" algn="l">
              <a:lnSpc>
                <a:spcPts val="3418"/>
              </a:lnSpc>
              <a:buNone/>
            </a:pPr>
            <a:r>
              <a:rPr lang="en-US" sz="2972" b="1" i="0" dirty="0">
                <a:solidFill>
                  <a:srgbClr val="14213D"/>
                </a:solidFill>
                <a:latin typeface="Georgia" pitchFamily="18" charset="0"/>
                <a:ea typeface="Georgia" pitchFamily="18" charset="-122"/>
                <a:cs typeface="Georgia" pitchFamily="18" charset="-120"/>
              </a:rPr>
              <a:t>Window 2: calibration ends at the peak</a:t>
            </a:r>
            <a:endParaRPr lang="en-US" sz="2972" dirty="0"/>
          </a:p>
        </p:txBody>
      </p:sp>
      <p:sp>
        <p:nvSpPr>
          <p:cNvPr id="4" name="Shape 2"/>
          <p:cNvSpPr/>
          <p:nvPr/>
        </p:nvSpPr>
        <p:spPr>
          <a:xfrm>
            <a:off x="1841517" y="1732167"/>
            <a:ext cx="8508916" cy="3493029"/>
          </a:xfrm>
          <a:prstGeom prst="roundRect">
            <a:avLst>
              <a:gd name="adj" fmla="val 2181"/>
            </a:avLst>
          </a:prstGeom>
          <a:solidFill>
            <a:srgbClr val="FFFFFF"/>
          </a:solidFill>
          <a:ln/>
        </p:spPr>
        <p:txBody>
          <a:bodyPr/>
          <a:lstStyle/>
          <a:p>
            <a:endParaRPr lang="en-US"/>
          </a:p>
        </p:txBody>
      </p:sp>
      <p:pic>
        <p:nvPicPr>
          <p:cNvPr id="5" name="Image 0" descr="Window 2 fits: all three models and the ensemble keep rising after week 23 while observed cases fall from about 350 to 240"/>
          <p:cNvPicPr>
            <a:picLocks noChangeAspect="1"/>
          </p:cNvPicPr>
          <p:nvPr/>
        </p:nvPicPr>
        <p:blipFill>
          <a:blip r:embed="rId3"/>
          <a:stretch>
            <a:fillRect/>
          </a:stretch>
        </p:blipFill>
        <p:spPr>
          <a:xfrm>
            <a:off x="1908361" y="1732167"/>
            <a:ext cx="8375229" cy="3493029"/>
          </a:xfrm>
          <a:custGeom>
            <a:avLst/>
            <a:gdLst/>
            <a:ahLst/>
            <a:cxnLst/>
            <a:rect l="l" t="t" r="r" b="b"/>
            <a:pathLst>
              <a:path w="8375229" h="3493029">
                <a:moveTo>
                  <a:pt x="0" y="577"/>
                </a:moveTo>
                <a:arcTo wR="76200" hR="76200" stAng="15776832" swAng="423168"/>
                <a:lnTo>
                  <a:pt x="8365872" y="0"/>
                </a:lnTo>
                <a:arcTo wR="76200" hR="76200" stAng="16200000" swAng="423168"/>
                <a:lnTo>
                  <a:pt x="8375229" y="3492452"/>
                </a:lnTo>
                <a:arcTo wR="76200" hR="76200" stAng="4976832" swAng="423168"/>
                <a:lnTo>
                  <a:pt x="9356" y="3493029"/>
                </a:lnTo>
                <a:arcTo wR="76200" hR="76200" stAng="5400000" swAng="423168"/>
                <a:close/>
              </a:path>
            </a:pathLst>
          </a:custGeom>
        </p:spPr>
      </p:pic>
      <p:sp>
        <p:nvSpPr>
          <p:cNvPr id="6" name="Text 3"/>
          <p:cNvSpPr/>
          <p:nvPr/>
        </p:nvSpPr>
        <p:spPr>
          <a:xfrm>
            <a:off x="1841517" y="5352179"/>
            <a:ext cx="8764184" cy="515177"/>
          </a:xfrm>
          <a:prstGeom prst="rect">
            <a:avLst/>
          </a:prstGeom>
          <a:noFill/>
          <a:ln/>
        </p:spPr>
        <p:txBody>
          <a:bodyPr wrap="square" lIns="0" tIns="0" rIns="0" bIns="0" rtlCol="0" anchor="t">
            <a:normAutofit/>
          </a:bodyPr>
          <a:lstStyle/>
          <a:p>
            <a:pPr marL="0" indent="0" algn="l">
              <a:lnSpc>
                <a:spcPts val="1936"/>
              </a:lnSpc>
              <a:buNone/>
            </a:pPr>
            <a:r>
              <a:rPr lang="en-US" sz="1383" dirty="0">
                <a:solidFill>
                  <a:srgbClr val="3A4250"/>
                </a:solidFill>
                <a:latin typeface="Arial" pitchFamily="34" charset="0"/>
                <a:ea typeface="Arial" pitchFamily="34" charset="-122"/>
                <a:cs typeface="Arial" pitchFamily="34" charset="-120"/>
              </a:rPr>
              <a:t>Every model extrapolates growth while cases fall. Coverage drops to 52% (GLM, Richards) and 0% (Gompertz). Pooling cannot fix a bias that all members share.</a:t>
            </a:r>
            <a:endParaRPr lang="en-US" sz="1383" dirty="0"/>
          </a:p>
        </p:txBody>
      </p:sp>
      <p:sp>
        <p:nvSpPr>
          <p:cNvPr id="7" name="Text 4"/>
          <p:cNvSpPr/>
          <p:nvPr/>
        </p:nvSpPr>
        <p:spPr>
          <a:xfrm>
            <a:off x="812713" y="6238246"/>
            <a:ext cx="3476063"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JCF ensemble forecasting · AMS Fall 2026</a:t>
            </a:r>
            <a:endParaRPr lang="en-US" sz="1200" dirty="0"/>
          </a:p>
        </p:txBody>
      </p:sp>
      <p:sp>
        <p:nvSpPr>
          <p:cNvPr id="8" name="Text 5"/>
          <p:cNvSpPr/>
          <p:nvPr/>
        </p:nvSpPr>
        <p:spPr>
          <a:xfrm>
            <a:off x="11243398" y="6238246"/>
            <a:ext cx="13562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3" y="812713"/>
            <a:ext cx="10883519" cy="238778"/>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4A1A"/>
                </a:solidFill>
                <a:latin typeface="Arial" pitchFamily="34" charset="0"/>
                <a:ea typeface="Arial" pitchFamily="34" charset="-122"/>
                <a:cs typeface="Arial" pitchFamily="34" charset="-120"/>
              </a:rPr>
              <a:t>RESULTS · STEPS 3–4</a:t>
            </a:r>
            <a:endParaRPr lang="en-US" sz="1200" dirty="0"/>
          </a:p>
        </p:txBody>
      </p:sp>
      <p:sp>
        <p:nvSpPr>
          <p:cNvPr id="3" name="Text 1"/>
          <p:cNvSpPr>
            <a:spLocks noGrp="1"/>
          </p:cNvSpPr>
          <p:nvPr>
            <p:ph type="title"/>
          </p:nvPr>
        </p:nvSpPr>
        <p:spPr>
          <a:xfrm>
            <a:off x="812713" y="1102258"/>
            <a:ext cx="10883519" cy="463424"/>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The ensemble beats every single model overall</a:t>
            </a:r>
            <a:endParaRPr lang="en-US" sz="3000" dirty="0"/>
          </a:p>
        </p:txBody>
      </p:sp>
      <p:sp>
        <p:nvSpPr>
          <p:cNvPr id="4" name="Shape 2"/>
          <p:cNvSpPr/>
          <p:nvPr/>
        </p:nvSpPr>
        <p:spPr>
          <a:xfrm>
            <a:off x="812713" y="2444607"/>
            <a:ext cx="6730943" cy="2692315"/>
          </a:xfrm>
          <a:prstGeom prst="roundRect">
            <a:avLst>
              <a:gd name="adj" fmla="val 2830"/>
            </a:avLst>
          </a:prstGeom>
          <a:solidFill>
            <a:srgbClr val="FFFFFF"/>
          </a:solidFill>
          <a:ln/>
        </p:spPr>
        <p:txBody>
          <a:bodyPr/>
          <a:lstStyle/>
          <a:p>
            <a:endParaRPr lang="en-US"/>
          </a:p>
        </p:txBody>
      </p:sp>
      <p:pic>
        <p:nvPicPr>
          <p:cNvPr id="5" name="Image 0" descr="Bar charts of MAE, MSE, coverage and WIS for GLM, Richards, Gompertz and the calibration-only ensemble; the ensemble has the highest coverage and lowest WIS"/>
          <p:cNvPicPr>
            <a:picLocks noChangeAspect="1"/>
          </p:cNvPicPr>
          <p:nvPr/>
        </p:nvPicPr>
        <p:blipFill>
          <a:blip r:embed="rId3"/>
          <a:srcRect t="-15" b="-15"/>
          <a:stretch/>
        </p:blipFill>
        <p:spPr>
          <a:xfrm>
            <a:off x="812713" y="2444607"/>
            <a:ext cx="6730943" cy="2692315"/>
          </a:xfrm>
          <a:prstGeom prst="roundRect">
            <a:avLst>
              <a:gd name="adj" fmla="val 2830"/>
            </a:avLst>
          </a:prstGeom>
        </p:spPr>
      </p:pic>
      <p:sp>
        <p:nvSpPr>
          <p:cNvPr id="6" name="Shape 3"/>
          <p:cNvSpPr/>
          <p:nvPr/>
        </p:nvSpPr>
        <p:spPr>
          <a:xfrm>
            <a:off x="7851611" y="1848234"/>
            <a:ext cx="3524450" cy="1057617"/>
          </a:xfrm>
          <a:prstGeom prst="roundRect">
            <a:avLst>
              <a:gd name="adj" fmla="val 9306"/>
            </a:avLst>
          </a:prstGeom>
          <a:solidFill>
            <a:srgbClr val="FDFCF9"/>
          </a:solidFill>
          <a:ln w="6350">
            <a:solidFill>
              <a:srgbClr val="DCDDD6"/>
            </a:solidFill>
            <a:prstDash val="solid"/>
          </a:ln>
        </p:spPr>
        <p:txBody>
          <a:bodyPr/>
          <a:lstStyle/>
          <a:p>
            <a:endParaRPr lang="en-US"/>
          </a:p>
        </p:txBody>
      </p:sp>
      <p:sp>
        <p:nvSpPr>
          <p:cNvPr id="7" name="Text 4"/>
          <p:cNvSpPr/>
          <p:nvPr/>
        </p:nvSpPr>
        <p:spPr>
          <a:xfrm>
            <a:off x="8032912" y="2004076"/>
            <a:ext cx="3256705" cy="523212"/>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B54A1A"/>
                </a:solidFill>
                <a:latin typeface="Georgia" pitchFamily="18" charset="0"/>
                <a:ea typeface="Georgia" pitchFamily="18" charset="-122"/>
                <a:cs typeface="Georgia" pitchFamily="18" charset="-120"/>
              </a:rPr>
              <a:t>31.9</a:t>
            </a:r>
            <a:endParaRPr lang="en-US" sz="2800" dirty="0"/>
          </a:p>
        </p:txBody>
      </p:sp>
      <p:sp>
        <p:nvSpPr>
          <p:cNvPr id="8" name="Text 5"/>
          <p:cNvSpPr/>
          <p:nvPr/>
        </p:nvSpPr>
        <p:spPr>
          <a:xfrm>
            <a:off x="8032912" y="2527244"/>
            <a:ext cx="3256705" cy="248168"/>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250"/>
                </a:solidFill>
                <a:latin typeface="Arial" pitchFamily="34" charset="0"/>
                <a:ea typeface="Arial" pitchFamily="34" charset="-122"/>
                <a:cs typeface="Arial" pitchFamily="34" charset="-120"/>
              </a:rPr>
              <a:t>Mean WIS, vs 33.4 for GLM (4.3% better)</a:t>
            </a:r>
            <a:endParaRPr lang="en-US" sz="1300" dirty="0"/>
          </a:p>
        </p:txBody>
      </p:sp>
      <p:sp>
        <p:nvSpPr>
          <p:cNvPr id="9" name="Shape 6"/>
          <p:cNvSpPr/>
          <p:nvPr/>
        </p:nvSpPr>
        <p:spPr>
          <a:xfrm>
            <a:off x="7851611" y="3039188"/>
            <a:ext cx="3524450" cy="1280385"/>
          </a:xfrm>
          <a:prstGeom prst="roundRect">
            <a:avLst>
              <a:gd name="adj" fmla="val 7687"/>
            </a:avLst>
          </a:prstGeom>
          <a:solidFill>
            <a:srgbClr val="FDFCF9"/>
          </a:solidFill>
          <a:ln w="6350">
            <a:solidFill>
              <a:srgbClr val="DCDDD6"/>
            </a:solidFill>
            <a:prstDash val="solid"/>
          </a:ln>
        </p:spPr>
        <p:txBody>
          <a:bodyPr/>
          <a:lstStyle/>
          <a:p>
            <a:endParaRPr lang="en-US"/>
          </a:p>
        </p:txBody>
      </p:sp>
      <p:sp>
        <p:nvSpPr>
          <p:cNvPr id="10" name="Text 7"/>
          <p:cNvSpPr/>
          <p:nvPr/>
        </p:nvSpPr>
        <p:spPr>
          <a:xfrm>
            <a:off x="8032912" y="3195030"/>
            <a:ext cx="3256705" cy="523212"/>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B54A1A"/>
                </a:solidFill>
                <a:latin typeface="Georgia" pitchFamily="18" charset="0"/>
                <a:ea typeface="Georgia" pitchFamily="18" charset="-122"/>
                <a:cs typeface="Georgia" pitchFamily="18" charset="-120"/>
              </a:rPr>
              <a:t>87.5%</a:t>
            </a:r>
            <a:endParaRPr lang="en-US" sz="2800" dirty="0"/>
          </a:p>
        </p:txBody>
      </p:sp>
      <p:sp>
        <p:nvSpPr>
          <p:cNvPr id="11" name="Text 8"/>
          <p:cNvSpPr/>
          <p:nvPr/>
        </p:nvSpPr>
        <p:spPr>
          <a:xfrm>
            <a:off x="8032912" y="3718192"/>
            <a:ext cx="3256705" cy="470937"/>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250"/>
                </a:solidFill>
                <a:latin typeface="Arial" pitchFamily="34" charset="0"/>
                <a:ea typeface="Arial" pitchFamily="34" charset="-122"/>
                <a:cs typeface="Arial" pitchFamily="34" charset="-120"/>
              </a:rPr>
              <a:t>95% PI coverage, vs 76–83% for single models</a:t>
            </a:r>
            <a:endParaRPr lang="en-US" sz="1300" dirty="0"/>
          </a:p>
        </p:txBody>
      </p:sp>
      <p:sp>
        <p:nvSpPr>
          <p:cNvPr id="12" name="Shape 9"/>
          <p:cNvSpPr/>
          <p:nvPr/>
        </p:nvSpPr>
        <p:spPr>
          <a:xfrm>
            <a:off x="7851611" y="4452906"/>
            <a:ext cx="3524450" cy="1280385"/>
          </a:xfrm>
          <a:prstGeom prst="roundRect">
            <a:avLst>
              <a:gd name="adj" fmla="val 7687"/>
            </a:avLst>
          </a:prstGeom>
          <a:solidFill>
            <a:srgbClr val="FDFCF9"/>
          </a:solidFill>
          <a:ln w="6350">
            <a:solidFill>
              <a:srgbClr val="DCDDD6"/>
            </a:solidFill>
            <a:prstDash val="solid"/>
          </a:ln>
        </p:spPr>
        <p:txBody>
          <a:bodyPr/>
          <a:lstStyle/>
          <a:p>
            <a:endParaRPr lang="en-US"/>
          </a:p>
        </p:txBody>
      </p:sp>
      <p:sp>
        <p:nvSpPr>
          <p:cNvPr id="13" name="Text 10"/>
          <p:cNvSpPr/>
          <p:nvPr/>
        </p:nvSpPr>
        <p:spPr>
          <a:xfrm>
            <a:off x="8032912" y="4608748"/>
            <a:ext cx="3256705" cy="523212"/>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B54A1A"/>
                </a:solidFill>
                <a:latin typeface="Georgia" pitchFamily="18" charset="0"/>
                <a:ea typeface="Georgia" pitchFamily="18" charset="-122"/>
                <a:cs typeface="Georgia" pitchFamily="18" charset="-120"/>
              </a:rPr>
              <a:t>−19%</a:t>
            </a:r>
            <a:endParaRPr lang="en-US" sz="2800" dirty="0"/>
          </a:p>
        </p:txBody>
      </p:sp>
      <p:sp>
        <p:nvSpPr>
          <p:cNvPr id="14" name="Text 11"/>
          <p:cNvSpPr/>
          <p:nvPr/>
        </p:nvSpPr>
        <p:spPr>
          <a:xfrm>
            <a:off x="8032912" y="5131910"/>
            <a:ext cx="3256705" cy="470937"/>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4250"/>
                </a:solidFill>
                <a:latin typeface="Arial" pitchFamily="34" charset="0"/>
                <a:ea typeface="Arial" pitchFamily="34" charset="-122"/>
                <a:cs typeface="Arial" pitchFamily="34" charset="-120"/>
              </a:rPr>
              <a:t>WIS vs best single model in windows 4 and 5</a:t>
            </a:r>
            <a:endParaRPr lang="en-US" sz="1300" dirty="0"/>
          </a:p>
        </p:txBody>
      </p:sp>
      <p:sp>
        <p:nvSpPr>
          <p:cNvPr id="15" name="Text 12"/>
          <p:cNvSpPr/>
          <p:nvPr/>
        </p:nvSpPr>
        <p:spPr>
          <a:xfrm>
            <a:off x="812713" y="6238242"/>
            <a:ext cx="3476063"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JCF ensemble forecasting · AMS Fall 2026</a:t>
            </a:r>
            <a:endParaRPr lang="en-US" sz="1200" dirty="0"/>
          </a:p>
        </p:txBody>
      </p:sp>
      <p:sp>
        <p:nvSpPr>
          <p:cNvPr id="16" name="Text 13"/>
          <p:cNvSpPr/>
          <p:nvPr/>
        </p:nvSpPr>
        <p:spPr>
          <a:xfrm>
            <a:off x="11243398" y="6238242"/>
            <a:ext cx="135629"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3" y="812713"/>
            <a:ext cx="10883519" cy="235126"/>
          </a:xfrm>
          <a:prstGeom prst="rect">
            <a:avLst/>
          </a:prstGeom>
          <a:noFill/>
          <a:ln/>
        </p:spPr>
        <p:txBody>
          <a:bodyPr wrap="square" lIns="0" tIns="0" rIns="0" bIns="0" rtlCol="0" anchor="t">
            <a:normAutofit/>
          </a:bodyPr>
          <a:lstStyle/>
          <a:p>
            <a:pPr marL="0" indent="0" algn="l">
              <a:lnSpc>
                <a:spcPts val="1675"/>
              </a:lnSpc>
              <a:buNone/>
            </a:pPr>
            <a:r>
              <a:rPr lang="en-US" sz="1196" b="1" kern="0" spc="100" dirty="0">
                <a:solidFill>
                  <a:srgbClr val="B54A1A"/>
                </a:solidFill>
                <a:latin typeface="Arial" pitchFamily="34" charset="0"/>
                <a:ea typeface="Arial" pitchFamily="34" charset="-122"/>
                <a:cs typeface="Arial" pitchFamily="34" charset="-120"/>
              </a:rPr>
              <a:t>RESULTS · WHY THE POOL WINS</a:t>
            </a:r>
            <a:endParaRPr lang="en-US" sz="1196" dirty="0"/>
          </a:p>
        </p:txBody>
      </p:sp>
      <p:sp>
        <p:nvSpPr>
          <p:cNvPr id="3" name="Text 1"/>
          <p:cNvSpPr>
            <a:spLocks noGrp="1"/>
          </p:cNvSpPr>
          <p:nvPr>
            <p:ph type="title"/>
          </p:nvPr>
        </p:nvSpPr>
        <p:spPr>
          <a:xfrm>
            <a:off x="812713" y="1098606"/>
            <a:ext cx="10883519" cy="455807"/>
          </a:xfrm>
          <a:prstGeom prst="rect">
            <a:avLst/>
          </a:prstGeom>
          <a:noFill/>
          <a:ln/>
        </p:spPr>
        <p:txBody>
          <a:bodyPr wrap="square" lIns="0" tIns="0" rIns="0" bIns="0" rtlCol="0" anchor="t">
            <a:normAutofit/>
          </a:bodyPr>
          <a:lstStyle/>
          <a:p>
            <a:pPr marL="0" indent="0" algn="l">
              <a:lnSpc>
                <a:spcPts val="3418"/>
              </a:lnSpc>
              <a:buNone/>
            </a:pPr>
            <a:r>
              <a:rPr lang="en-US" sz="2972" b="1" i="0" dirty="0">
                <a:solidFill>
                  <a:srgbClr val="14213D"/>
                </a:solidFill>
                <a:latin typeface="Georgia" pitchFamily="18" charset="0"/>
                <a:ea typeface="Georgia" pitchFamily="18" charset="-122"/>
                <a:cs typeface="Georgia" pitchFamily="18" charset="-120"/>
              </a:rPr>
              <a:t>Late windows: members err in opposite directions</a:t>
            </a:r>
            <a:endParaRPr lang="en-US" sz="2972" dirty="0"/>
          </a:p>
        </p:txBody>
      </p:sp>
      <p:sp>
        <p:nvSpPr>
          <p:cNvPr id="4" name="Shape 2"/>
          <p:cNvSpPr/>
          <p:nvPr/>
        </p:nvSpPr>
        <p:spPr>
          <a:xfrm>
            <a:off x="1841517" y="1732167"/>
            <a:ext cx="8508916" cy="3493029"/>
          </a:xfrm>
          <a:prstGeom prst="roundRect">
            <a:avLst>
              <a:gd name="adj" fmla="val 2181"/>
            </a:avLst>
          </a:prstGeom>
          <a:solidFill>
            <a:srgbClr val="FFFFFF"/>
          </a:solidFill>
          <a:ln/>
        </p:spPr>
        <p:txBody>
          <a:bodyPr/>
          <a:lstStyle/>
          <a:p>
            <a:endParaRPr lang="en-US"/>
          </a:p>
        </p:txBody>
      </p:sp>
      <p:pic>
        <p:nvPicPr>
          <p:cNvPr id="5" name="Image 0" descr="Window 5 forecasts: GLM and Richards fall below the observed cases, Gompertz stays above them, and the ensemble interval covers the observations"/>
          <p:cNvPicPr>
            <a:picLocks noChangeAspect="1"/>
          </p:cNvPicPr>
          <p:nvPr/>
        </p:nvPicPr>
        <p:blipFill>
          <a:blip r:embed="rId3"/>
          <a:stretch>
            <a:fillRect/>
          </a:stretch>
        </p:blipFill>
        <p:spPr>
          <a:xfrm>
            <a:off x="1908361" y="1732167"/>
            <a:ext cx="8375229" cy="3493029"/>
          </a:xfrm>
          <a:custGeom>
            <a:avLst/>
            <a:gdLst/>
            <a:ahLst/>
            <a:cxnLst/>
            <a:rect l="l" t="t" r="r" b="b"/>
            <a:pathLst>
              <a:path w="8375229" h="3493029">
                <a:moveTo>
                  <a:pt x="0" y="577"/>
                </a:moveTo>
                <a:arcTo wR="76200" hR="76200" stAng="15776832" swAng="423168"/>
                <a:lnTo>
                  <a:pt x="8365872" y="0"/>
                </a:lnTo>
                <a:arcTo wR="76200" hR="76200" stAng="16200000" swAng="423168"/>
                <a:lnTo>
                  <a:pt x="8375229" y="3492452"/>
                </a:lnTo>
                <a:arcTo wR="76200" hR="76200" stAng="4976832" swAng="423168"/>
                <a:lnTo>
                  <a:pt x="9356" y="3493029"/>
                </a:lnTo>
                <a:arcTo wR="76200" hR="76200" stAng="5400000" swAng="423168"/>
                <a:close/>
              </a:path>
            </a:pathLst>
          </a:custGeom>
        </p:spPr>
      </p:pic>
      <p:sp>
        <p:nvSpPr>
          <p:cNvPr id="6" name="Text 3"/>
          <p:cNvSpPr/>
          <p:nvPr/>
        </p:nvSpPr>
        <p:spPr>
          <a:xfrm>
            <a:off x="1841517" y="5352176"/>
            <a:ext cx="8764184" cy="515177"/>
          </a:xfrm>
          <a:prstGeom prst="rect">
            <a:avLst/>
          </a:prstGeom>
          <a:noFill/>
          <a:ln/>
        </p:spPr>
        <p:txBody>
          <a:bodyPr wrap="square" lIns="0" tIns="0" rIns="0" bIns="0" rtlCol="0" anchor="t">
            <a:normAutofit/>
          </a:bodyPr>
          <a:lstStyle/>
          <a:p>
            <a:pPr marL="0" indent="0" algn="l">
              <a:lnSpc>
                <a:spcPts val="1936"/>
              </a:lnSpc>
              <a:buNone/>
            </a:pPr>
            <a:r>
              <a:rPr lang="en-US" sz="1383" dirty="0">
                <a:solidFill>
                  <a:srgbClr val="3A4250"/>
                </a:solidFill>
                <a:latin typeface="Arial" pitchFamily="34" charset="0"/>
                <a:ea typeface="Arial" pitchFamily="34" charset="-122"/>
                <a:cs typeface="Arial" pitchFamily="34" charset="-120"/>
              </a:rPr>
              <a:t>Window 5: GLM and Richards decline too fast, Gompertz stays too high, and the observed cases sit between them. A model with a poor score can still help the pool.</a:t>
            </a:r>
            <a:endParaRPr lang="en-US" sz="1383" dirty="0"/>
          </a:p>
        </p:txBody>
      </p:sp>
      <p:sp>
        <p:nvSpPr>
          <p:cNvPr id="7" name="Text 4"/>
          <p:cNvSpPr/>
          <p:nvPr/>
        </p:nvSpPr>
        <p:spPr>
          <a:xfrm>
            <a:off x="812713" y="6238242"/>
            <a:ext cx="3476063"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JCF ensemble forecasting · AMS Fall 2026</a:t>
            </a:r>
            <a:endParaRPr lang="en-US" sz="1200" dirty="0"/>
          </a:p>
        </p:txBody>
      </p:sp>
      <p:sp>
        <p:nvSpPr>
          <p:cNvPr id="8" name="Text 5"/>
          <p:cNvSpPr/>
          <p:nvPr/>
        </p:nvSpPr>
        <p:spPr>
          <a:xfrm>
            <a:off x="11158673" y="6238242"/>
            <a:ext cx="220354"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CEFF3"/>
        </a:solidFill>
        <a:effectLst/>
      </p:bgPr>
    </p:bg>
    <p:spTree>
      <p:nvGrpSpPr>
        <p:cNvPr id="1" name=""/>
        <p:cNvGrpSpPr/>
        <p:nvPr/>
      </p:nvGrpSpPr>
      <p:grpSpPr>
        <a:xfrm>
          <a:off x="0" y="0"/>
          <a:ext cx="0" cy="0"/>
          <a:chOff x="0" y="0"/>
          <a:chExt cx="0" cy="0"/>
        </a:xfrm>
      </p:grpSpPr>
      <p:sp>
        <p:nvSpPr>
          <p:cNvPr id="2" name="Text 0"/>
          <p:cNvSpPr/>
          <p:nvPr/>
        </p:nvSpPr>
        <p:spPr>
          <a:xfrm>
            <a:off x="812713" y="812713"/>
            <a:ext cx="10883519" cy="238778"/>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4A1A"/>
                </a:solidFill>
                <a:latin typeface="Arial" pitchFamily="34" charset="0"/>
                <a:ea typeface="Arial" pitchFamily="34" charset="-122"/>
                <a:cs typeface="Arial" pitchFamily="34" charset="-120"/>
              </a:rPr>
              <a:t>RESULTS · STEPS 5–6</a:t>
            </a:r>
            <a:endParaRPr lang="en-US" sz="1200" dirty="0"/>
          </a:p>
        </p:txBody>
      </p:sp>
      <p:sp>
        <p:nvSpPr>
          <p:cNvPr id="3" name="Text 1"/>
          <p:cNvSpPr>
            <a:spLocks noGrp="1"/>
          </p:cNvSpPr>
          <p:nvPr>
            <p:ph type="title"/>
          </p:nvPr>
        </p:nvSpPr>
        <p:spPr>
          <a:xfrm>
            <a:off x="812713" y="1102258"/>
            <a:ext cx="10883519" cy="463424"/>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JCF ties calibration-only on this outbreak</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0625508"/>
              </p:ext>
            </p:extLst>
          </p:nvPr>
        </p:nvGraphicFramePr>
        <p:xfrm>
          <a:off x="819391" y="1800925"/>
          <a:ext cx="5581313" cy="2908196"/>
        </p:xfrm>
        <a:graphic>
          <a:graphicData uri="http://schemas.openxmlformats.org/drawingml/2006/table">
            <a:tbl>
              <a:tblPr/>
              <a:tblGrid>
                <a:gridCol w="1897646">
                  <a:extLst>
                    <a:ext uri="{9D8B030D-6E8A-4147-A177-3AD203B41FA5}">
                      <a16:colId xmlns:a16="http://schemas.microsoft.com/office/drawing/2014/main" val="20000"/>
                    </a:ext>
                  </a:extLst>
                </a:gridCol>
                <a:gridCol w="1227889">
                  <a:extLst>
                    <a:ext uri="{9D8B030D-6E8A-4147-A177-3AD203B41FA5}">
                      <a16:colId xmlns:a16="http://schemas.microsoft.com/office/drawing/2014/main" val="20001"/>
                    </a:ext>
                  </a:extLst>
                </a:gridCol>
                <a:gridCol w="1332468">
                  <a:extLst>
                    <a:ext uri="{9D8B030D-6E8A-4147-A177-3AD203B41FA5}">
                      <a16:colId xmlns:a16="http://schemas.microsoft.com/office/drawing/2014/main" val="20002"/>
                    </a:ext>
                  </a:extLst>
                </a:gridCol>
                <a:gridCol w="1123310">
                  <a:extLst>
                    <a:ext uri="{9D8B030D-6E8A-4147-A177-3AD203B41FA5}">
                      <a16:colId xmlns:a16="http://schemas.microsoft.com/office/drawing/2014/main" val="20003"/>
                    </a:ext>
                  </a:extLst>
                </a:gridCol>
              </a:tblGrid>
              <a:tr h="628760">
                <a:tc>
                  <a:txBody>
                    <a:bodyPr/>
                    <a:lstStyle/>
                    <a:p>
                      <a:pPr marL="0" indent="0">
                        <a:lnSpc>
                          <a:spcPts val="1960"/>
                        </a:lnSpc>
                        <a:buNone/>
                      </a:pPr>
                      <a:r>
                        <a:rPr lang="en-US" sz="1400" b="1" dirty="0">
                          <a:solidFill>
                            <a:srgbClr val="14213D"/>
                          </a:solidFill>
                          <a:latin typeface="Arial" pitchFamily="34" charset="0"/>
                          <a:ea typeface="Arial" pitchFamily="34" charset="-122"/>
                          <a:cs typeface="Arial" pitchFamily="34" charset="-120"/>
                        </a:rPr>
                        <a:t>λ</a:t>
                      </a:r>
                      <a:endParaRPr lang="en-US" sz="1400" dirty="0">
                        <a:latin typeface="Arial" charset="0"/>
                        <a:ea typeface="Arial" charset="0"/>
                        <a:cs typeface="Arial" charset="0"/>
                      </a:endParaRPr>
                    </a:p>
                  </a:txBody>
                  <a:tcPr marL="62230" marR="62230" marT="62230" marB="62230">
                    <a:lnL w="12700" cap="flat" cmpd="sng" algn="ctr">
                      <a:solidFill>
                        <a:srgbClr val="BCBFC2"/>
                      </a:solidFill>
                      <a:prstDash val="solid"/>
                      <a:round/>
                      <a:headEnd type="none" w="med" len="med"/>
                      <a:tailEnd type="none" w="med" len="med"/>
                    </a:lnL>
                    <a:lnR w="12700" cap="flat" cmpd="sng" algn="ctr">
                      <a:solidFill>
                        <a:srgbClr val="AFB1B4"/>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AFB1B4"/>
                      </a:solidFill>
                      <a:prstDash val="solid"/>
                      <a:round/>
                      <a:headEnd type="none" w="med" len="med"/>
                      <a:tailEnd type="none" w="med" len="med"/>
                    </a:lnB>
                    <a:solidFill>
                      <a:srgbClr val="DBDDE1"/>
                    </a:solidFill>
                  </a:tcPr>
                </a:tc>
                <a:tc>
                  <a:txBody>
                    <a:bodyPr/>
                    <a:lstStyle/>
                    <a:p>
                      <a:pPr marL="0" indent="0" algn="r">
                        <a:lnSpc>
                          <a:spcPts val="1960"/>
                        </a:lnSpc>
                        <a:buNone/>
                      </a:pPr>
                      <a:r>
                        <a:rPr lang="en-US" sz="1400" b="1" dirty="0">
                          <a:solidFill>
                            <a:srgbClr val="14213D"/>
                          </a:solidFill>
                          <a:latin typeface="Arial" pitchFamily="34" charset="0"/>
                          <a:ea typeface="Arial" pitchFamily="34" charset="-122"/>
                          <a:cs typeface="Arial" pitchFamily="34" charset="-120"/>
                        </a:rPr>
                        <a:t>Mean WIS</a:t>
                      </a:r>
                      <a:endParaRPr lang="en-US" sz="1400" dirty="0">
                        <a:latin typeface="Arial" charset="0"/>
                        <a:ea typeface="Arial" charset="0"/>
                        <a:cs typeface="Arial" charset="0"/>
                      </a:endParaRPr>
                    </a:p>
                  </a:txBody>
                  <a:tcPr marL="62230" marR="62230" marT="62230" marB="62230">
                    <a:lnL w="12700" cap="flat" cmpd="sng" algn="ctr">
                      <a:solidFill>
                        <a:srgbClr val="AFB1B4"/>
                      </a:solidFill>
                      <a:prstDash val="solid"/>
                      <a:round/>
                      <a:headEnd type="none" w="med" len="med"/>
                      <a:tailEnd type="none" w="med" len="med"/>
                    </a:lnL>
                    <a:lnR w="12700" cap="flat" cmpd="sng" algn="ctr">
                      <a:solidFill>
                        <a:srgbClr val="AFB1B4"/>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AFB1B4"/>
                      </a:solidFill>
                      <a:prstDash val="solid"/>
                      <a:round/>
                      <a:headEnd type="none" w="med" len="med"/>
                      <a:tailEnd type="none" w="med" len="med"/>
                    </a:lnB>
                    <a:solidFill>
                      <a:srgbClr val="DBDDE1"/>
                    </a:solidFill>
                  </a:tcPr>
                </a:tc>
                <a:tc>
                  <a:txBody>
                    <a:bodyPr/>
                    <a:lstStyle/>
                    <a:p>
                      <a:pPr marL="0" indent="0" algn="r">
                        <a:lnSpc>
                          <a:spcPts val="1960"/>
                        </a:lnSpc>
                        <a:buNone/>
                      </a:pPr>
                      <a:r>
                        <a:rPr lang="en-US" sz="1400" b="1" dirty="0">
                          <a:solidFill>
                            <a:srgbClr val="14213D"/>
                          </a:solidFill>
                          <a:latin typeface="Arial" pitchFamily="34" charset="0"/>
                          <a:ea typeface="Arial" pitchFamily="34" charset="-122"/>
                          <a:cs typeface="Arial" pitchFamily="34" charset="-120"/>
                        </a:rPr>
                        <a:t>Windows 2–5</a:t>
                      </a:r>
                      <a:endParaRPr lang="en-US" sz="1400" dirty="0">
                        <a:latin typeface="Arial" charset="0"/>
                        <a:ea typeface="Arial" charset="0"/>
                        <a:cs typeface="Arial" charset="0"/>
                      </a:endParaRPr>
                    </a:p>
                  </a:txBody>
                  <a:tcPr marL="62230" marR="62230" marT="62230" marB="62230">
                    <a:lnL w="12700" cap="flat" cmpd="sng" algn="ctr">
                      <a:solidFill>
                        <a:srgbClr val="AFB1B4"/>
                      </a:solidFill>
                      <a:prstDash val="solid"/>
                      <a:round/>
                      <a:headEnd type="none" w="med" len="med"/>
                      <a:tailEnd type="none" w="med" len="med"/>
                    </a:lnL>
                    <a:lnR w="12700" cap="flat" cmpd="sng" algn="ctr">
                      <a:solidFill>
                        <a:srgbClr val="AFB1B4"/>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AFB1B4"/>
                      </a:solidFill>
                      <a:prstDash val="solid"/>
                      <a:round/>
                      <a:headEnd type="none" w="med" len="med"/>
                      <a:tailEnd type="none" w="med" len="med"/>
                    </a:lnB>
                    <a:solidFill>
                      <a:srgbClr val="DBDDE1"/>
                    </a:solidFill>
                  </a:tcPr>
                </a:tc>
                <a:tc>
                  <a:txBody>
                    <a:bodyPr/>
                    <a:lstStyle/>
                    <a:p>
                      <a:pPr marL="0" indent="0" algn="r">
                        <a:lnSpc>
                          <a:spcPts val="1960"/>
                        </a:lnSpc>
                        <a:buNone/>
                      </a:pPr>
                      <a:r>
                        <a:rPr lang="en-US" sz="1400" b="1" dirty="0">
                          <a:solidFill>
                            <a:srgbClr val="14213D"/>
                          </a:solidFill>
                          <a:latin typeface="Arial" pitchFamily="34" charset="0"/>
                          <a:ea typeface="Arial" pitchFamily="34" charset="-122"/>
                          <a:cs typeface="Arial" pitchFamily="34" charset="-120"/>
                        </a:rPr>
                        <a:t>vs baseline</a:t>
                      </a:r>
                      <a:endParaRPr lang="en-US" sz="1400" dirty="0">
                        <a:latin typeface="Arial" charset="0"/>
                        <a:ea typeface="Arial" charset="0"/>
                        <a:cs typeface="Arial" charset="0"/>
                      </a:endParaRPr>
                    </a:p>
                  </a:txBody>
                  <a:tcPr marL="62230" marR="62230" marT="62230" marB="62230">
                    <a:lnL w="12700" cap="flat" cmpd="sng" algn="ctr">
                      <a:solidFill>
                        <a:srgbClr val="AFB1B4"/>
                      </a:solidFill>
                      <a:prstDash val="solid"/>
                      <a:round/>
                      <a:headEnd type="none" w="med" len="med"/>
                      <a:tailEnd type="none" w="med" len="med"/>
                    </a:lnL>
                    <a:lnR w="12700" cap="flat" cmpd="sng" algn="ctr">
                      <a:solidFill>
                        <a:srgbClr val="AFB1B4"/>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AFB1B4"/>
                      </a:solidFill>
                      <a:prstDash val="solid"/>
                      <a:round/>
                      <a:headEnd type="none" w="med" len="med"/>
                      <a:tailEnd type="none" w="med" len="med"/>
                    </a:lnB>
                    <a:solidFill>
                      <a:srgbClr val="DBDDE1"/>
                    </a:solidFill>
                  </a:tcPr>
                </a:tc>
                <a:extLst>
                  <a:ext uri="{0D108BD9-81ED-4DB2-BD59-A6C34878D82A}">
                    <a16:rowId xmlns:a16="http://schemas.microsoft.com/office/drawing/2014/main" val="10000"/>
                  </a:ext>
                </a:extLst>
              </a:tr>
              <a:tr h="379906">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1 (baseline)</a:t>
                      </a:r>
                      <a:endParaRPr lang="en-US" sz="1400" dirty="0">
                        <a:latin typeface="Arial" charset="0"/>
                        <a:ea typeface="Arial" charset="0"/>
                        <a:cs typeface="Arial" charset="0"/>
                      </a:endParaRPr>
                    </a:p>
                  </a:txBody>
                  <a:tcPr marL="62230" marR="62230" marT="62230" marB="62230">
                    <a:lnL w="12700" cap="flat" cmpd="sng" algn="ctr">
                      <a:solidFill>
                        <a:srgbClr val="BCBFC2"/>
                      </a:solidFill>
                      <a:prstDash val="solid"/>
                      <a:round/>
                      <a:headEnd type="none" w="med" len="med"/>
                      <a:tailEnd type="none" w="med" len="med"/>
                    </a:lnL>
                    <a:lnR w="12700" cap="flat" cmpd="sng" algn="ctr">
                      <a:solidFill>
                        <a:srgbClr val="B1B8BF"/>
                      </a:solidFill>
                      <a:prstDash val="solid"/>
                      <a:round/>
                      <a:headEnd type="none" w="med" len="med"/>
                      <a:tailEnd type="none" w="med" len="med"/>
                    </a:lnR>
                    <a:lnT w="12700" cap="flat" cmpd="sng" algn="ctr">
                      <a:solidFill>
                        <a:srgbClr val="AFB1B4"/>
                      </a:solidFill>
                      <a:prstDash val="solid"/>
                      <a:round/>
                      <a:headEnd type="none" w="med" len="med"/>
                      <a:tailEnd type="none" w="med" len="med"/>
                    </a:lnT>
                    <a:lnB w="12700" cap="flat" cmpd="sng" algn="ctr">
                      <a:solidFill>
                        <a:srgbClr val="B1B8BF"/>
                      </a:solidFill>
                      <a:prstDash val="solid"/>
                      <a:round/>
                      <a:headEnd type="none" w="med" len="med"/>
                      <a:tailEnd type="none" w="med" len="med"/>
                    </a:lnB>
                    <a:solidFill>
                      <a:srgbClr val="DDE6F0"/>
                    </a:solidFill>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31.93</a:t>
                      </a:r>
                      <a:endParaRPr lang="en-US" sz="1400" dirty="0">
                        <a:latin typeface="Arial" charset="0"/>
                        <a:ea typeface="Arial" charset="0"/>
                        <a:cs typeface="Arial" charset="0"/>
                      </a:endParaRPr>
                    </a:p>
                  </a:txBody>
                  <a:tcPr marL="62230" marR="62230" marT="62230" marB="62230">
                    <a:lnL w="12700" cap="flat" cmpd="sng" algn="ctr">
                      <a:solidFill>
                        <a:srgbClr val="B1B8BF"/>
                      </a:solidFill>
                      <a:prstDash val="solid"/>
                      <a:round/>
                      <a:headEnd type="none" w="med" len="med"/>
                      <a:tailEnd type="none" w="med" len="med"/>
                    </a:lnL>
                    <a:lnR w="12700" cap="flat" cmpd="sng" algn="ctr">
                      <a:solidFill>
                        <a:srgbClr val="B1B8BF"/>
                      </a:solidFill>
                      <a:prstDash val="solid"/>
                      <a:round/>
                      <a:headEnd type="none" w="med" len="med"/>
                      <a:tailEnd type="none" w="med" len="med"/>
                    </a:lnR>
                    <a:lnT w="12700" cap="flat" cmpd="sng" algn="ctr">
                      <a:solidFill>
                        <a:srgbClr val="AFB1B4"/>
                      </a:solidFill>
                      <a:prstDash val="solid"/>
                      <a:round/>
                      <a:headEnd type="none" w="med" len="med"/>
                      <a:tailEnd type="none" w="med" len="med"/>
                    </a:lnT>
                    <a:lnB w="12700" cap="flat" cmpd="sng" algn="ctr">
                      <a:solidFill>
                        <a:srgbClr val="B1B8BF"/>
                      </a:solidFill>
                      <a:prstDash val="solid"/>
                      <a:round/>
                      <a:headEnd type="none" w="med" len="med"/>
                      <a:tailEnd type="none" w="med" len="med"/>
                    </a:lnB>
                    <a:solidFill>
                      <a:srgbClr val="DDE6F0"/>
                    </a:solidFill>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37.73</a:t>
                      </a:r>
                      <a:endParaRPr lang="en-US" sz="1400" dirty="0">
                        <a:latin typeface="Arial" charset="0"/>
                        <a:ea typeface="Arial" charset="0"/>
                        <a:cs typeface="Arial" charset="0"/>
                      </a:endParaRPr>
                    </a:p>
                  </a:txBody>
                  <a:tcPr marL="62230" marR="62230" marT="62230" marB="62230">
                    <a:lnL w="12700" cap="flat" cmpd="sng" algn="ctr">
                      <a:solidFill>
                        <a:srgbClr val="B1B8BF"/>
                      </a:solidFill>
                      <a:prstDash val="solid"/>
                      <a:round/>
                      <a:headEnd type="none" w="med" len="med"/>
                      <a:tailEnd type="none" w="med" len="med"/>
                    </a:lnL>
                    <a:lnR w="12700" cap="flat" cmpd="sng" algn="ctr">
                      <a:solidFill>
                        <a:srgbClr val="B1B8BF"/>
                      </a:solidFill>
                      <a:prstDash val="solid"/>
                      <a:round/>
                      <a:headEnd type="none" w="med" len="med"/>
                      <a:tailEnd type="none" w="med" len="med"/>
                    </a:lnR>
                    <a:lnT w="12700" cap="flat" cmpd="sng" algn="ctr">
                      <a:solidFill>
                        <a:srgbClr val="AFB1B4"/>
                      </a:solidFill>
                      <a:prstDash val="solid"/>
                      <a:round/>
                      <a:headEnd type="none" w="med" len="med"/>
                      <a:tailEnd type="none" w="med" len="med"/>
                    </a:lnT>
                    <a:lnB w="12700" cap="flat" cmpd="sng" algn="ctr">
                      <a:solidFill>
                        <a:srgbClr val="B1B8BF"/>
                      </a:solidFill>
                      <a:prstDash val="solid"/>
                      <a:round/>
                      <a:headEnd type="none" w="med" len="med"/>
                      <a:tailEnd type="none" w="med" len="med"/>
                    </a:lnB>
                    <a:solidFill>
                      <a:srgbClr val="DDE6F0"/>
                    </a:solidFill>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62230" marR="62230" marT="62230" marB="62230">
                    <a:lnL w="12700" cap="flat" cmpd="sng" algn="ctr">
                      <a:solidFill>
                        <a:srgbClr val="B1B8BF"/>
                      </a:solidFill>
                      <a:prstDash val="solid"/>
                      <a:round/>
                      <a:headEnd type="none" w="med" len="med"/>
                      <a:tailEnd type="none" w="med" len="med"/>
                    </a:lnL>
                    <a:lnR w="12700" cap="flat" cmpd="sng" algn="ctr">
                      <a:solidFill>
                        <a:srgbClr val="B1B8BF"/>
                      </a:solidFill>
                      <a:prstDash val="solid"/>
                      <a:round/>
                      <a:headEnd type="none" w="med" len="med"/>
                      <a:tailEnd type="none" w="med" len="med"/>
                    </a:lnR>
                    <a:lnT w="12700" cap="flat" cmpd="sng" algn="ctr">
                      <a:solidFill>
                        <a:srgbClr val="AFB1B4"/>
                      </a:solidFill>
                      <a:prstDash val="solid"/>
                      <a:round/>
                      <a:headEnd type="none" w="med" len="med"/>
                      <a:tailEnd type="none" w="med" len="med"/>
                    </a:lnT>
                    <a:lnB w="12700" cap="flat" cmpd="sng" algn="ctr">
                      <a:solidFill>
                        <a:srgbClr val="B1B8BF"/>
                      </a:solidFill>
                      <a:prstDash val="solid"/>
                      <a:round/>
                      <a:headEnd type="none" w="med" len="med"/>
                      <a:tailEnd type="none" w="med" len="med"/>
                    </a:lnB>
                    <a:solidFill>
                      <a:srgbClr val="DDE6F0"/>
                    </a:solidFill>
                  </a:tcPr>
                </a:tc>
                <a:extLst>
                  <a:ext uri="{0D108BD9-81ED-4DB2-BD59-A6C34878D82A}">
                    <a16:rowId xmlns:a16="http://schemas.microsoft.com/office/drawing/2014/main" val="10001"/>
                  </a:ext>
                </a:extLst>
              </a:tr>
              <a:tr h="379906">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0.833 (C/(C+H))</a:t>
                      </a:r>
                      <a:endParaRPr lang="en-US" sz="1400" dirty="0">
                        <a:latin typeface="Arial" charset="0"/>
                        <a:ea typeface="Arial" charset="0"/>
                        <a:cs typeface="Arial" charset="0"/>
                      </a:endParaRPr>
                    </a:p>
                  </a:txBody>
                  <a:tcPr marL="62230" marR="62230" marT="62230" marB="62230">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1B8BF"/>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32.01</a:t>
                      </a:r>
                      <a:endParaRPr lang="en-US" sz="1400" dirty="0">
                        <a:latin typeface="Arial" charset="0"/>
                        <a:ea typeface="Arial" charset="0"/>
                        <a:cs typeface="Arial" charset="0"/>
                      </a:endParaRPr>
                    </a:p>
                  </a:txBody>
                  <a:tcPr marL="62230" marR="62230" marT="62230" marB="62230">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1B8BF"/>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37.84</a:t>
                      </a:r>
                      <a:endParaRPr lang="en-US" sz="1400" dirty="0">
                        <a:latin typeface="Arial" charset="0"/>
                        <a:ea typeface="Arial" charset="0"/>
                        <a:cs typeface="Arial" charset="0"/>
                      </a:endParaRPr>
                    </a:p>
                  </a:txBody>
                  <a:tcPr marL="62230" marR="62230" marT="62230" marB="62230">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1B8BF"/>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+0.3%</a:t>
                      </a:r>
                      <a:endParaRPr lang="en-US" sz="1400" dirty="0">
                        <a:latin typeface="Arial" charset="0"/>
                        <a:ea typeface="Arial" charset="0"/>
                        <a:cs typeface="Arial" charset="0"/>
                      </a:endParaRPr>
                    </a:p>
                  </a:txBody>
                  <a:tcPr marL="62230" marR="62230" marT="62230" marB="62230">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1B8BF"/>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extLst>
                  <a:ext uri="{0D108BD9-81ED-4DB2-BD59-A6C34878D82A}">
                    <a16:rowId xmlns:a16="http://schemas.microsoft.com/office/drawing/2014/main" val="10002"/>
                  </a:ext>
                </a:extLst>
              </a:tr>
              <a:tr h="379906">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0.75</a:t>
                      </a:r>
                      <a:endParaRPr lang="en-US" sz="1400" dirty="0">
                        <a:latin typeface="Arial" charset="0"/>
                        <a:ea typeface="Arial" charset="0"/>
                        <a:cs typeface="Arial" charset="0"/>
                      </a:endParaRPr>
                    </a:p>
                  </a:txBody>
                  <a:tcPr marL="62230" marR="62230" marT="62230" marB="62230">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32.07</a:t>
                      </a:r>
                      <a:endParaRPr lang="en-US" sz="1400" dirty="0">
                        <a:latin typeface="Arial" charset="0"/>
                        <a:ea typeface="Arial" charset="0"/>
                        <a:cs typeface="Arial" charset="0"/>
                      </a:endParaRPr>
                    </a:p>
                  </a:txBody>
                  <a:tcPr marL="62230" marR="62230" marT="62230" marB="62230">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37.91</a:t>
                      </a:r>
                      <a:endParaRPr lang="en-US" sz="1400" dirty="0">
                        <a:latin typeface="Arial" charset="0"/>
                        <a:ea typeface="Arial" charset="0"/>
                        <a:cs typeface="Arial" charset="0"/>
                      </a:endParaRPr>
                    </a:p>
                  </a:txBody>
                  <a:tcPr marL="62230" marR="62230" marT="62230" marB="62230">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+0.4%</a:t>
                      </a:r>
                      <a:endParaRPr lang="en-US" sz="1400" dirty="0">
                        <a:latin typeface="Arial" charset="0"/>
                        <a:ea typeface="Arial" charset="0"/>
                        <a:cs typeface="Arial" charset="0"/>
                      </a:endParaRPr>
                    </a:p>
                  </a:txBody>
                  <a:tcPr marL="62230" marR="62230" marT="62230" marB="62230">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extLst>
                  <a:ext uri="{0D108BD9-81ED-4DB2-BD59-A6C34878D82A}">
                    <a16:rowId xmlns:a16="http://schemas.microsoft.com/office/drawing/2014/main" val="10003"/>
                  </a:ext>
                </a:extLst>
              </a:tr>
              <a:tr h="379906">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0.5</a:t>
                      </a:r>
                      <a:endParaRPr lang="en-US" sz="1400" dirty="0">
                        <a:latin typeface="Arial" charset="0"/>
                        <a:ea typeface="Arial" charset="0"/>
                        <a:cs typeface="Arial" charset="0"/>
                      </a:endParaRPr>
                    </a:p>
                  </a:txBody>
                  <a:tcPr marL="62230" marR="62230" marT="62230" marB="62230">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32.18</a:t>
                      </a:r>
                      <a:endParaRPr lang="en-US" sz="1400" dirty="0">
                        <a:latin typeface="Arial" charset="0"/>
                        <a:ea typeface="Arial" charset="0"/>
                        <a:cs typeface="Arial" charset="0"/>
                      </a:endParaRPr>
                    </a:p>
                  </a:txBody>
                  <a:tcPr marL="62230" marR="62230" marT="62230" marB="62230">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38.06</a:t>
                      </a:r>
                      <a:endParaRPr lang="en-US" sz="1400" dirty="0">
                        <a:latin typeface="Arial" charset="0"/>
                        <a:ea typeface="Arial" charset="0"/>
                        <a:cs typeface="Arial" charset="0"/>
                      </a:endParaRPr>
                    </a:p>
                  </a:txBody>
                  <a:tcPr marL="62230" marR="62230" marT="62230" marB="62230">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+0.8%</a:t>
                      </a:r>
                      <a:endParaRPr lang="en-US" sz="1400" dirty="0">
                        <a:latin typeface="Arial" charset="0"/>
                        <a:ea typeface="Arial" charset="0"/>
                        <a:cs typeface="Arial" charset="0"/>
                      </a:endParaRPr>
                    </a:p>
                  </a:txBody>
                  <a:tcPr marL="62230" marR="62230" marT="62230" marB="62230">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extLst>
                  <a:ext uri="{0D108BD9-81ED-4DB2-BD59-A6C34878D82A}">
                    <a16:rowId xmlns:a16="http://schemas.microsoft.com/office/drawing/2014/main" val="10004"/>
                  </a:ext>
                </a:extLst>
              </a:tr>
              <a:tr h="379906">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0.25</a:t>
                      </a:r>
                      <a:endParaRPr lang="en-US" sz="1400" dirty="0">
                        <a:latin typeface="Arial" charset="0"/>
                        <a:ea typeface="Arial" charset="0"/>
                        <a:cs typeface="Arial" charset="0"/>
                      </a:endParaRPr>
                    </a:p>
                  </a:txBody>
                  <a:tcPr marL="62230" marR="62230" marT="62230" marB="62230">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32.26</a:t>
                      </a:r>
                      <a:endParaRPr lang="en-US" sz="1400" dirty="0">
                        <a:latin typeface="Arial" charset="0"/>
                        <a:ea typeface="Arial" charset="0"/>
                        <a:cs typeface="Arial" charset="0"/>
                      </a:endParaRPr>
                    </a:p>
                  </a:txBody>
                  <a:tcPr marL="62230" marR="62230" marT="62230" marB="62230">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38.15</a:t>
                      </a:r>
                      <a:endParaRPr lang="en-US" sz="1400" dirty="0">
                        <a:latin typeface="Arial" charset="0"/>
                        <a:ea typeface="Arial" charset="0"/>
                        <a:cs typeface="Arial" charset="0"/>
                      </a:endParaRPr>
                    </a:p>
                  </a:txBody>
                  <a:tcPr marL="62230" marR="62230" marT="62230" marB="62230">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+1.0%</a:t>
                      </a:r>
                      <a:endParaRPr lang="en-US" sz="1400" dirty="0">
                        <a:latin typeface="Arial" charset="0"/>
                        <a:ea typeface="Arial" charset="0"/>
                        <a:cs typeface="Arial" charset="0"/>
                      </a:endParaRPr>
                    </a:p>
                  </a:txBody>
                  <a:tcPr marL="62230" marR="62230" marT="62230" marB="62230">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extLst>
                  <a:ext uri="{0D108BD9-81ED-4DB2-BD59-A6C34878D82A}">
                    <a16:rowId xmlns:a16="http://schemas.microsoft.com/office/drawing/2014/main" val="10005"/>
                  </a:ext>
                </a:extLst>
              </a:tr>
              <a:tr h="379906">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62230" marR="62230" marT="62230" marB="62230">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32.34</a:t>
                      </a:r>
                      <a:endParaRPr lang="en-US" sz="1400" dirty="0">
                        <a:latin typeface="Arial" charset="0"/>
                        <a:ea typeface="Arial" charset="0"/>
                        <a:cs typeface="Arial" charset="0"/>
                      </a:endParaRPr>
                    </a:p>
                  </a:txBody>
                  <a:tcPr marL="62230" marR="62230" marT="62230" marB="62230">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38.25</a:t>
                      </a:r>
                      <a:endParaRPr lang="en-US" sz="1400" dirty="0">
                        <a:latin typeface="Arial" charset="0"/>
                        <a:ea typeface="Arial" charset="0"/>
                        <a:cs typeface="Arial" charset="0"/>
                      </a:endParaRPr>
                    </a:p>
                  </a:txBody>
                  <a:tcPr marL="62230" marR="62230" marT="62230" marB="62230">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+1.3%</a:t>
                      </a:r>
                      <a:endParaRPr lang="en-US" sz="1400" dirty="0">
                        <a:latin typeface="Arial" charset="0"/>
                        <a:ea typeface="Arial" charset="0"/>
                        <a:cs typeface="Arial" charset="0"/>
                      </a:endParaRPr>
                    </a:p>
                  </a:txBody>
                  <a:tcPr marL="62230" marR="62230" marT="62230" marB="62230">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812713" y="4836108"/>
            <a:ext cx="5755630"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262"/>
                </a:solidFill>
                <a:latin typeface="Arial" pitchFamily="34" charset="0"/>
                <a:ea typeface="Arial" pitchFamily="34" charset="-122"/>
                <a:cs typeface="Arial" pitchFamily="34" charset="-120"/>
              </a:rPr>
              <a:t>Forecast WIS, lower is better; + means higher WIS than baseline.</a:t>
            </a:r>
            <a:endParaRPr lang="en-US" sz="1200" dirty="0"/>
          </a:p>
        </p:txBody>
      </p:sp>
      <p:sp>
        <p:nvSpPr>
          <p:cNvPr id="6" name="Text 3"/>
          <p:cNvSpPr/>
          <p:nvPr/>
        </p:nvSpPr>
        <p:spPr>
          <a:xfrm>
            <a:off x="812713" y="5176465"/>
            <a:ext cx="5755630" cy="558792"/>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A4250"/>
                </a:solidFill>
                <a:latin typeface="Arial" pitchFamily="34" charset="0"/>
                <a:ea typeface="Arial" pitchFamily="34" charset="-122"/>
                <a:cs typeface="Arial" pitchFamily="34" charset="-120"/>
              </a:rPr>
              <a:t>Every λ is within </a:t>
            </a:r>
            <a:r>
              <a:rPr lang="en-US" sz="1500" b="1" dirty="0">
                <a:solidFill>
                  <a:srgbClr val="3A4250"/>
                </a:solidFill>
                <a:latin typeface="Arial" pitchFamily="34" charset="0"/>
                <a:ea typeface="Arial" pitchFamily="34" charset="-122"/>
                <a:cs typeface="Arial" pitchFamily="34" charset="-120"/>
              </a:rPr>
              <a:t>1.3%</a:t>
            </a:r>
            <a:r>
              <a:rPr lang="en-US" sz="1500" dirty="0">
                <a:solidFill>
                  <a:srgbClr val="3A4250"/>
                </a:solidFill>
                <a:latin typeface="Arial" pitchFamily="34" charset="0"/>
                <a:ea typeface="Arial" pitchFamily="34" charset="-122"/>
                <a:cs typeface="Arial" pitchFamily="34" charset="-120"/>
              </a:rPr>
              <a:t> of the baseline, over only four windows that can differ: effectively a tie.</a:t>
            </a:r>
            <a:endParaRPr lang="en-US" sz="1500" dirty="0"/>
          </a:p>
        </p:txBody>
      </p:sp>
      <p:sp>
        <p:nvSpPr>
          <p:cNvPr id="7" name="Shape 4"/>
          <p:cNvSpPr/>
          <p:nvPr/>
        </p:nvSpPr>
        <p:spPr>
          <a:xfrm>
            <a:off x="6705484" y="1794247"/>
            <a:ext cx="4673544" cy="3009825"/>
          </a:xfrm>
          <a:prstGeom prst="roundRect">
            <a:avLst>
              <a:gd name="adj" fmla="val 2532"/>
            </a:avLst>
          </a:prstGeom>
          <a:solidFill>
            <a:srgbClr val="FFFFFF"/>
          </a:solidFill>
          <a:ln/>
        </p:spPr>
        <p:txBody>
          <a:bodyPr/>
          <a:lstStyle/>
          <a:p>
            <a:endParaRPr lang="en-US"/>
          </a:p>
        </p:txBody>
      </p:sp>
      <p:pic>
        <p:nvPicPr>
          <p:cNvPr id="8" name="Image 0" descr="Line chart of mean forecast WIS against lambda: nearly flat, rising slightly from 31.9 at lambda 1 to 32.3 at lambda 0"/>
          <p:cNvPicPr>
            <a:picLocks noChangeAspect="1"/>
          </p:cNvPicPr>
          <p:nvPr/>
        </p:nvPicPr>
        <p:blipFill>
          <a:blip r:embed="rId3"/>
          <a:srcRect t="-39" b="-39"/>
          <a:stretch/>
        </p:blipFill>
        <p:spPr>
          <a:xfrm>
            <a:off x="6705484" y="1794247"/>
            <a:ext cx="4673544" cy="3009825"/>
          </a:xfrm>
          <a:prstGeom prst="roundRect">
            <a:avLst>
              <a:gd name="adj" fmla="val 2532"/>
            </a:avLst>
          </a:prstGeom>
        </p:spPr>
      </p:pic>
      <p:sp>
        <p:nvSpPr>
          <p:cNvPr id="9" name="Text 5"/>
          <p:cNvSpPr/>
          <p:nvPr/>
        </p:nvSpPr>
        <p:spPr>
          <a:xfrm>
            <a:off x="812713" y="6238242"/>
            <a:ext cx="3476063"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JCF ensemble forecasting · AMS Fall 2026</a:t>
            </a:r>
            <a:endParaRPr lang="en-US" sz="1200" dirty="0"/>
          </a:p>
        </p:txBody>
      </p:sp>
      <p:sp>
        <p:nvSpPr>
          <p:cNvPr id="10" name="Text 6"/>
          <p:cNvSpPr/>
          <p:nvPr/>
        </p:nvSpPr>
        <p:spPr>
          <a:xfrm>
            <a:off x="11169942" y="6238242"/>
            <a:ext cx="209086"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3" y="812713"/>
            <a:ext cx="10883519" cy="238778"/>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4A1A"/>
                </a:solidFill>
                <a:latin typeface="Arial" pitchFamily="34" charset="0"/>
                <a:ea typeface="Arial" pitchFamily="34" charset="-122"/>
                <a:cs typeface="Arial" pitchFamily="34" charset="-120"/>
              </a:rPr>
              <a:t>RESULTS · STEP 7</a:t>
            </a:r>
            <a:endParaRPr lang="en-US" sz="1200" dirty="0"/>
          </a:p>
        </p:txBody>
      </p:sp>
      <p:sp>
        <p:nvSpPr>
          <p:cNvPr id="3" name="Text 1"/>
          <p:cNvSpPr>
            <a:spLocks noGrp="1"/>
          </p:cNvSpPr>
          <p:nvPr>
            <p:ph type="title"/>
          </p:nvPr>
        </p:nvSpPr>
        <p:spPr>
          <a:xfrm>
            <a:off x="812713" y="1102258"/>
            <a:ext cx="10883519" cy="463424"/>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JCF does move the weights as the epidemic turns</a:t>
            </a:r>
            <a:endParaRPr lang="en-US" sz="3000" dirty="0"/>
          </a:p>
        </p:txBody>
      </p:sp>
      <p:sp>
        <p:nvSpPr>
          <p:cNvPr id="4" name="Shape 2"/>
          <p:cNvSpPr/>
          <p:nvPr/>
        </p:nvSpPr>
        <p:spPr>
          <a:xfrm>
            <a:off x="812713" y="1794247"/>
            <a:ext cx="6730943" cy="3847997"/>
          </a:xfrm>
          <a:prstGeom prst="roundRect">
            <a:avLst>
              <a:gd name="adj" fmla="val 1980"/>
            </a:avLst>
          </a:prstGeom>
          <a:solidFill>
            <a:srgbClr val="FFFFFF"/>
          </a:solidFill>
          <a:ln/>
        </p:spPr>
        <p:txBody>
          <a:bodyPr/>
          <a:lstStyle/>
          <a:p>
            <a:endParaRPr lang="en-US"/>
          </a:p>
        </p:txBody>
      </p:sp>
      <p:pic>
        <p:nvPicPr>
          <p:cNvPr id="5" name="Image 0" descr="Stacked bar charts of GLM, Richards and Gompertz weights across five windows for six lambda values; Gompertz's share swings more at small lambda"/>
          <p:cNvPicPr>
            <a:picLocks noChangeAspect="1"/>
          </p:cNvPicPr>
          <p:nvPr/>
        </p:nvPicPr>
        <p:blipFill>
          <a:blip r:embed="rId3"/>
          <a:srcRect t="-7" b="-7"/>
          <a:stretch/>
        </p:blipFill>
        <p:spPr>
          <a:xfrm>
            <a:off x="812713" y="1794247"/>
            <a:ext cx="6730943" cy="3847997"/>
          </a:xfrm>
          <a:prstGeom prst="roundRect">
            <a:avLst>
              <a:gd name="adj" fmla="val 1980"/>
            </a:avLst>
          </a:prstGeom>
        </p:spPr>
      </p:pic>
      <p:sp>
        <p:nvSpPr>
          <p:cNvPr id="6" name="Text 3"/>
          <p:cNvSpPr/>
          <p:nvPr/>
        </p:nvSpPr>
        <p:spPr>
          <a:xfrm>
            <a:off x="7848436" y="1794247"/>
            <a:ext cx="3636724" cy="256411"/>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4A5262"/>
                </a:solidFill>
                <a:latin typeface="Arial" pitchFamily="34" charset="0"/>
                <a:ea typeface="Arial" pitchFamily="34" charset="-122"/>
                <a:cs typeface="Arial" pitchFamily="34" charset="-120"/>
              </a:rPr>
              <a:t>GOMPERTZ WEIGHT, W1 → W5</a:t>
            </a:r>
            <a:endParaRPr lang="en-US" sz="1300" dirty="0"/>
          </a:p>
        </p:txBody>
      </p:sp>
      <p:sp>
        <p:nvSpPr>
          <p:cNvPr id="7" name="Text 4"/>
          <p:cNvSpPr/>
          <p:nvPr/>
        </p:nvSpPr>
        <p:spPr>
          <a:xfrm>
            <a:off x="7848436" y="2177597"/>
            <a:ext cx="3636724" cy="27425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F6FB0"/>
                </a:solidFill>
                <a:latin typeface="Arial" pitchFamily="34" charset="0"/>
                <a:ea typeface="Arial" pitchFamily="34" charset="-122"/>
                <a:cs typeface="Arial" pitchFamily="34" charset="-120"/>
              </a:rPr>
              <a:t>λ = 1 (baseline)</a:t>
            </a:r>
            <a:endParaRPr lang="en-US" sz="1400" dirty="0"/>
          </a:p>
        </p:txBody>
      </p:sp>
      <p:sp>
        <p:nvSpPr>
          <p:cNvPr id="8" name="Text 5"/>
          <p:cNvSpPr/>
          <p:nvPr/>
        </p:nvSpPr>
        <p:spPr>
          <a:xfrm>
            <a:off x="7848436" y="2464538"/>
            <a:ext cx="3636724" cy="256411"/>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14213D"/>
                </a:solidFill>
                <a:latin typeface="Arial" pitchFamily="34" charset="0"/>
                <a:ea typeface="Arial" pitchFamily="34" charset="-122"/>
                <a:cs typeface="Arial" pitchFamily="34" charset="-120"/>
              </a:rPr>
              <a:t>0.34 → 0.34 → 0.29 → 0.18 → 0.18</a:t>
            </a:r>
            <a:endParaRPr lang="en-US" sz="1300" dirty="0"/>
          </a:p>
        </p:txBody>
      </p:sp>
      <p:sp>
        <p:nvSpPr>
          <p:cNvPr id="9" name="Text 6"/>
          <p:cNvSpPr/>
          <p:nvPr/>
        </p:nvSpPr>
        <p:spPr>
          <a:xfrm>
            <a:off x="7848436" y="2847888"/>
            <a:ext cx="3636724" cy="27425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54A1A"/>
                </a:solidFill>
                <a:latin typeface="Arial" pitchFamily="34" charset="0"/>
                <a:ea typeface="Arial" pitchFamily="34" charset="-122"/>
                <a:cs typeface="Arial" pitchFamily="34" charset="-120"/>
              </a:rPr>
              <a:t>λ = 0</a:t>
            </a:r>
            <a:endParaRPr lang="en-US" sz="1400" dirty="0"/>
          </a:p>
        </p:txBody>
      </p:sp>
      <p:sp>
        <p:nvSpPr>
          <p:cNvPr id="10" name="Text 7"/>
          <p:cNvSpPr/>
          <p:nvPr/>
        </p:nvSpPr>
        <p:spPr>
          <a:xfrm>
            <a:off x="7848436" y="3134823"/>
            <a:ext cx="3636724" cy="256411"/>
          </a:xfrm>
          <a:prstGeom prst="rect">
            <a:avLst/>
          </a:prstGeom>
          <a:noFill/>
          <a:ln/>
        </p:spPr>
        <p:txBody>
          <a:bodyPr wrap="none" lIns="0" tIns="0" rIns="0" bIns="0" rtlCol="0" anchor="t">
            <a:normAutofit/>
          </a:bodyPr>
          <a:lstStyle/>
          <a:p>
            <a:pPr marL="0" indent="0" algn="l">
              <a:lnSpc>
                <a:spcPts val="1820"/>
              </a:lnSpc>
              <a:buNone/>
            </a:pPr>
            <a:r>
              <a:rPr lang="en-US" sz="1300" dirty="0">
                <a:solidFill>
                  <a:srgbClr val="14213D"/>
                </a:solidFill>
                <a:latin typeface="Arial" pitchFamily="34" charset="0"/>
                <a:ea typeface="Arial" pitchFamily="34" charset="-122"/>
                <a:cs typeface="Arial" pitchFamily="34" charset="-120"/>
              </a:rPr>
              <a:t>0.34 → 0.42 → 0.29 → 0.10 → 0.24</a:t>
            </a:r>
            <a:endParaRPr lang="en-US" sz="1300" dirty="0"/>
          </a:p>
        </p:txBody>
      </p:sp>
      <p:sp>
        <p:nvSpPr>
          <p:cNvPr id="11" name="Text 8"/>
          <p:cNvSpPr/>
          <p:nvPr/>
        </p:nvSpPr>
        <p:spPr>
          <a:xfrm>
            <a:off x="7848436" y="3518173"/>
            <a:ext cx="3636724" cy="77196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250"/>
                </a:solidFill>
                <a:latin typeface="Arial" pitchFamily="34" charset="0"/>
                <a:ea typeface="Arial" pitchFamily="34" charset="-122"/>
                <a:cs typeface="Arial" pitchFamily="34" charset="-120"/>
              </a:rPr>
              <a:t>Shifting bars mean JCF is reacting to recent forecast skill. Flat bars would mean it does nothing.</a:t>
            </a:r>
            <a:endParaRPr lang="en-US" sz="1400" dirty="0"/>
          </a:p>
        </p:txBody>
      </p:sp>
      <p:sp>
        <p:nvSpPr>
          <p:cNvPr id="12" name="Text 9"/>
          <p:cNvSpPr/>
          <p:nvPr/>
        </p:nvSpPr>
        <p:spPr>
          <a:xfrm>
            <a:off x="812713" y="6238242"/>
            <a:ext cx="3476063"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JCF ensemble forecasting · AMS Fall 2026</a:t>
            </a:r>
            <a:endParaRPr lang="en-US" sz="1200" dirty="0"/>
          </a:p>
        </p:txBody>
      </p:sp>
      <p:sp>
        <p:nvSpPr>
          <p:cNvPr id="13" name="Text 10"/>
          <p:cNvSpPr/>
          <p:nvPr/>
        </p:nvSpPr>
        <p:spPr>
          <a:xfrm>
            <a:off x="11158673" y="6238242"/>
            <a:ext cx="220354"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Arial" pitchFamily="34" charset="0"/>
                <a:ea typeface="Arial" pitchFamily="34" charset="-122"/>
                <a:cs typeface="Arial"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3" y="812713"/>
            <a:ext cx="10883519" cy="238778"/>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4A1A"/>
                </a:solidFill>
                <a:latin typeface="Arial" pitchFamily="34" charset="0"/>
                <a:ea typeface="Arial" pitchFamily="34" charset="-122"/>
                <a:cs typeface="Arial" pitchFamily="34" charset="-120"/>
              </a:rPr>
              <a:t>RESULTS · WINDOW BY WINDOW</a:t>
            </a:r>
            <a:endParaRPr lang="en-US" sz="1200" dirty="0"/>
          </a:p>
        </p:txBody>
      </p:sp>
      <p:sp>
        <p:nvSpPr>
          <p:cNvPr id="3" name="Text 1"/>
          <p:cNvSpPr>
            <a:spLocks noGrp="1"/>
          </p:cNvSpPr>
          <p:nvPr>
            <p:ph type="title"/>
          </p:nvPr>
        </p:nvSpPr>
        <p:spPr>
          <a:xfrm>
            <a:off x="812713" y="1102258"/>
            <a:ext cx="10883519" cy="463424"/>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Where JCF helps and where it hurts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9391" y="1800925"/>
          <a:ext cx="10559844" cy="2279436"/>
        </p:xfrm>
        <a:graphic>
          <a:graphicData uri="http://schemas.openxmlformats.org/drawingml/2006/table">
            <a:tbl>
              <a:tblPr/>
              <a:tblGrid>
                <a:gridCol w="844788">
                  <a:extLst>
                    <a:ext uri="{9D8B030D-6E8A-4147-A177-3AD203B41FA5}">
                      <a16:colId xmlns:a16="http://schemas.microsoft.com/office/drawing/2014/main" val="20000"/>
                    </a:ext>
                  </a:extLst>
                </a:gridCol>
                <a:gridCol w="1267181">
                  <a:extLst>
                    <a:ext uri="{9D8B030D-6E8A-4147-A177-3AD203B41FA5}">
                      <a16:colId xmlns:a16="http://schemas.microsoft.com/office/drawing/2014/main" val="20001"/>
                    </a:ext>
                  </a:extLst>
                </a:gridCol>
                <a:gridCol w="1267181">
                  <a:extLst>
                    <a:ext uri="{9D8B030D-6E8A-4147-A177-3AD203B41FA5}">
                      <a16:colId xmlns:a16="http://schemas.microsoft.com/office/drawing/2014/main" val="20002"/>
                    </a:ext>
                  </a:extLst>
                </a:gridCol>
                <a:gridCol w="1267181">
                  <a:extLst>
                    <a:ext uri="{9D8B030D-6E8A-4147-A177-3AD203B41FA5}">
                      <a16:colId xmlns:a16="http://schemas.microsoft.com/office/drawing/2014/main" val="20003"/>
                    </a:ext>
                  </a:extLst>
                </a:gridCol>
                <a:gridCol w="5913513">
                  <a:extLst>
                    <a:ext uri="{9D8B030D-6E8A-4147-A177-3AD203B41FA5}">
                      <a16:colId xmlns:a16="http://schemas.microsoft.com/office/drawing/2014/main" val="20004"/>
                    </a:ext>
                  </a:extLst>
                </a:gridCol>
              </a:tblGrid>
              <a:tr h="379906">
                <a:tc>
                  <a:txBody>
                    <a:bodyPr/>
                    <a:lstStyle/>
                    <a:p>
                      <a:pPr marL="0" indent="0">
                        <a:lnSpc>
                          <a:spcPts val="1960"/>
                        </a:lnSpc>
                        <a:buNone/>
                      </a:pPr>
                      <a:r>
                        <a:rPr lang="en-US" sz="1400" b="1" dirty="0">
                          <a:solidFill>
                            <a:srgbClr val="14213D"/>
                          </a:solidFill>
                          <a:latin typeface="Arial" pitchFamily="34" charset="0"/>
                          <a:ea typeface="Arial" pitchFamily="34" charset="-122"/>
                          <a:cs typeface="Arial" pitchFamily="34" charset="-120"/>
                        </a:rPr>
                        <a:t>W</a:t>
                      </a:r>
                      <a:endParaRPr lang="en-US" sz="1400" dirty="0">
                        <a:latin typeface="Arial" charset="0"/>
                        <a:ea typeface="Arial" charset="0"/>
                        <a:cs typeface="Arial"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marL="0" indent="0" algn="r">
                        <a:lnSpc>
                          <a:spcPts val="1960"/>
                        </a:lnSpc>
                        <a:buNone/>
                      </a:pPr>
                      <a:r>
                        <a:rPr lang="en-US" sz="1400" b="1" dirty="0">
                          <a:solidFill>
                            <a:srgbClr val="14213D"/>
                          </a:solidFill>
                          <a:latin typeface="Arial" pitchFamily="34" charset="0"/>
                          <a:ea typeface="Arial" pitchFamily="34" charset="-122"/>
                          <a:cs typeface="Arial" pitchFamily="34" charset="-120"/>
                        </a:rPr>
                        <a:t>λ = 1</a:t>
                      </a:r>
                      <a:endParaRPr lang="en-US" sz="1400" dirty="0">
                        <a:latin typeface="Arial" charset="0"/>
                        <a:ea typeface="Arial" charset="0"/>
                        <a:cs typeface="Arial"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marL="0" indent="0" algn="r">
                        <a:lnSpc>
                          <a:spcPts val="1960"/>
                        </a:lnSpc>
                        <a:buNone/>
                      </a:pPr>
                      <a:r>
                        <a:rPr lang="en-US" sz="1400" b="1" dirty="0">
                          <a:solidFill>
                            <a:srgbClr val="14213D"/>
                          </a:solidFill>
                          <a:latin typeface="Arial" pitchFamily="34" charset="0"/>
                          <a:ea typeface="Arial" pitchFamily="34" charset="-122"/>
                          <a:cs typeface="Arial" pitchFamily="34" charset="-120"/>
                        </a:rPr>
                        <a:t>λ = 0.5</a:t>
                      </a:r>
                      <a:endParaRPr lang="en-US" sz="1400" dirty="0">
                        <a:latin typeface="Arial" charset="0"/>
                        <a:ea typeface="Arial" charset="0"/>
                        <a:cs typeface="Arial"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marL="0" indent="0" algn="r">
                        <a:lnSpc>
                          <a:spcPts val="1960"/>
                        </a:lnSpc>
                        <a:buNone/>
                      </a:pPr>
                      <a:r>
                        <a:rPr lang="en-US" sz="1400" b="1" dirty="0">
                          <a:solidFill>
                            <a:srgbClr val="14213D"/>
                          </a:solidFill>
                          <a:latin typeface="Arial" pitchFamily="34" charset="0"/>
                          <a:ea typeface="Arial" pitchFamily="34" charset="-122"/>
                          <a:cs typeface="Arial" pitchFamily="34" charset="-120"/>
                        </a:rPr>
                        <a:t>λ = 0</a:t>
                      </a:r>
                      <a:endParaRPr lang="en-US" sz="1400" dirty="0">
                        <a:latin typeface="Arial" charset="0"/>
                        <a:ea typeface="Arial" charset="0"/>
                        <a:cs typeface="Arial"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marL="0" indent="0">
                        <a:lnSpc>
                          <a:spcPts val="1960"/>
                        </a:lnSpc>
                        <a:buNone/>
                      </a:pPr>
                      <a:r>
                        <a:rPr lang="en-US" sz="1400" b="1" dirty="0">
                          <a:solidFill>
                            <a:srgbClr val="14213D"/>
                          </a:solidFill>
                          <a:latin typeface="Arial" pitchFamily="34" charset="0"/>
                          <a:ea typeface="Arial" pitchFamily="34" charset="-122"/>
                          <a:cs typeface="Arial" pitchFamily="34" charset="-120"/>
                        </a:rPr>
                        <a:t>What happened</a:t>
                      </a:r>
                      <a:endParaRPr lang="en-US" sz="1400" dirty="0">
                        <a:latin typeface="Arial" charset="0"/>
                        <a:ea typeface="Arial" charset="0"/>
                        <a:cs typeface="Arial"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extLst>
                  <a:ext uri="{0D108BD9-81ED-4DB2-BD59-A6C34878D82A}">
                    <a16:rowId xmlns:a16="http://schemas.microsoft.com/office/drawing/2014/main" val="10000"/>
                  </a:ext>
                </a:extLst>
              </a:tr>
              <a:tr h="379906">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1</a:t>
                      </a:r>
                      <a:endParaRPr lang="en-US" sz="1400" dirty="0">
                        <a:latin typeface="Arial" charset="0"/>
                        <a:ea typeface="Arial" charset="0"/>
                        <a:cs typeface="Arial"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8.70</a:t>
                      </a:r>
                      <a:endParaRPr lang="en-US" sz="1400" dirty="0">
                        <a:latin typeface="Arial" charset="0"/>
                        <a:ea typeface="Arial" charset="0"/>
                        <a:cs typeface="Arial"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8.70</a:t>
                      </a:r>
                      <a:endParaRPr lang="en-US" sz="1400" dirty="0">
                        <a:latin typeface="Arial" charset="0"/>
                        <a:ea typeface="Arial" charset="0"/>
                        <a:cs typeface="Arial"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8.70</a:t>
                      </a:r>
                      <a:endParaRPr lang="en-US" sz="1400" dirty="0">
                        <a:latin typeface="Arial" charset="0"/>
                        <a:ea typeface="Arial" charset="0"/>
                        <a:cs typeface="Arial"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Identical by construction</a:t>
                      </a:r>
                      <a:endParaRPr lang="en-US" sz="1400" dirty="0">
                        <a:latin typeface="Arial" charset="0"/>
                        <a:ea typeface="Arial" charset="0"/>
                        <a:cs typeface="Arial"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1"/>
                  </a:ext>
                </a:extLst>
              </a:tr>
              <a:tr h="379906">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0B6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0B6B0"/>
                      </a:solidFill>
                      <a:prstDash val="solid"/>
                      <a:round/>
                      <a:headEnd type="none" w="med" len="med"/>
                      <a:tailEnd type="none" w="med" len="med"/>
                    </a:lnB>
                    <a:solidFill>
                      <a:srgbClr val="F1E4DC"/>
                    </a:solidFill>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83.97</a:t>
                      </a:r>
                      <a:endParaRPr lang="en-US" sz="1400" dirty="0">
                        <a:latin typeface="Arial" charset="0"/>
                        <a:ea typeface="Arial" charset="0"/>
                        <a:cs typeface="Arial" charset="0"/>
                      </a:endParaRPr>
                    </a:p>
                  </a:txBody>
                  <a:tcPr marL="62230" marR="62230" marT="62230" marB="62230">
                    <a:lnL w="12700" cap="flat" cmpd="sng" algn="ctr">
                      <a:solidFill>
                        <a:srgbClr val="C0B6B0"/>
                      </a:solidFill>
                      <a:prstDash val="solid"/>
                      <a:round/>
                      <a:headEnd type="none" w="med" len="med"/>
                      <a:tailEnd type="none" w="med" len="med"/>
                    </a:lnL>
                    <a:lnR w="12700" cap="flat" cmpd="sng" algn="ctr">
                      <a:solidFill>
                        <a:srgbClr val="C0B6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0B6B0"/>
                      </a:solidFill>
                      <a:prstDash val="solid"/>
                      <a:round/>
                      <a:headEnd type="none" w="med" len="med"/>
                      <a:tailEnd type="none" w="med" len="med"/>
                    </a:lnB>
                    <a:solidFill>
                      <a:srgbClr val="F1E4DC"/>
                    </a:solidFill>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85.45</a:t>
                      </a:r>
                      <a:endParaRPr lang="en-US" sz="1400" dirty="0">
                        <a:latin typeface="Arial" charset="0"/>
                        <a:ea typeface="Arial" charset="0"/>
                        <a:cs typeface="Arial" charset="0"/>
                      </a:endParaRPr>
                    </a:p>
                  </a:txBody>
                  <a:tcPr marL="62230" marR="62230" marT="62230" marB="62230">
                    <a:lnL w="12700" cap="flat" cmpd="sng" algn="ctr">
                      <a:solidFill>
                        <a:srgbClr val="C0B6B0"/>
                      </a:solidFill>
                      <a:prstDash val="solid"/>
                      <a:round/>
                      <a:headEnd type="none" w="med" len="med"/>
                      <a:tailEnd type="none" w="med" len="med"/>
                    </a:lnL>
                    <a:lnR w="12700" cap="flat" cmpd="sng" algn="ctr">
                      <a:solidFill>
                        <a:srgbClr val="C0B6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0B6B0"/>
                      </a:solidFill>
                      <a:prstDash val="solid"/>
                      <a:round/>
                      <a:headEnd type="none" w="med" len="med"/>
                      <a:tailEnd type="none" w="med" len="med"/>
                    </a:lnB>
                    <a:solidFill>
                      <a:srgbClr val="F1E4DC"/>
                    </a:solidFill>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86.06</a:t>
                      </a:r>
                      <a:endParaRPr lang="en-US" sz="1400" dirty="0">
                        <a:latin typeface="Arial" charset="0"/>
                        <a:ea typeface="Arial" charset="0"/>
                        <a:cs typeface="Arial" charset="0"/>
                      </a:endParaRPr>
                    </a:p>
                  </a:txBody>
                  <a:tcPr marL="62230" marR="62230" marT="62230" marB="62230">
                    <a:lnL w="12700" cap="flat" cmpd="sng" algn="ctr">
                      <a:solidFill>
                        <a:srgbClr val="C0B6B0"/>
                      </a:solidFill>
                      <a:prstDash val="solid"/>
                      <a:round/>
                      <a:headEnd type="none" w="med" len="med"/>
                      <a:tailEnd type="none" w="med" len="med"/>
                    </a:lnL>
                    <a:lnR w="12700" cap="flat" cmpd="sng" algn="ctr">
                      <a:solidFill>
                        <a:srgbClr val="C0B6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0B6B0"/>
                      </a:solidFill>
                      <a:prstDash val="solid"/>
                      <a:round/>
                      <a:headEnd type="none" w="med" len="med"/>
                      <a:tailEnd type="none" w="med" len="med"/>
                    </a:lnB>
                    <a:solidFill>
                      <a:srgbClr val="F1E4DC"/>
                    </a:solidFill>
                  </a:tcPr>
                </a:tc>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Worse: Gompertz rewarded for W1, then failed at peak</a:t>
                      </a:r>
                      <a:endParaRPr lang="en-US" sz="1400" dirty="0">
                        <a:latin typeface="Arial" charset="0"/>
                        <a:ea typeface="Arial" charset="0"/>
                        <a:cs typeface="Arial" charset="0"/>
                      </a:endParaRPr>
                    </a:p>
                  </a:txBody>
                  <a:tcPr marL="62230" marR="62230" marT="62230" marB="62230">
                    <a:lnL w="12700" cap="flat" cmpd="sng" algn="ctr">
                      <a:solidFill>
                        <a:srgbClr val="C0B6B0"/>
                      </a:solidFill>
                      <a:prstDash val="solid"/>
                      <a:round/>
                      <a:headEnd type="none" w="med" len="med"/>
                      <a:tailEnd type="none" w="med" len="med"/>
                    </a:lnL>
                    <a:lnR w="12700" cap="flat" cmpd="sng" algn="ctr">
                      <a:solidFill>
                        <a:srgbClr val="C0B6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0B6B0"/>
                      </a:solidFill>
                      <a:prstDash val="solid"/>
                      <a:round/>
                      <a:headEnd type="none" w="med" len="med"/>
                      <a:tailEnd type="none" w="med" len="med"/>
                    </a:lnB>
                    <a:solidFill>
                      <a:srgbClr val="F1E4DC"/>
                    </a:solidFill>
                  </a:tcPr>
                </a:tc>
                <a:extLst>
                  <a:ext uri="{0D108BD9-81ED-4DB2-BD59-A6C34878D82A}">
                    <a16:rowId xmlns:a16="http://schemas.microsoft.com/office/drawing/2014/main" val="10002"/>
                  </a:ext>
                </a:extLst>
              </a:tr>
              <a:tr h="379906">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3</a:t>
                      </a:r>
                      <a:endParaRPr lang="en-US" sz="1400" dirty="0">
                        <a:latin typeface="Arial" charset="0"/>
                        <a:ea typeface="Arial" charset="0"/>
                        <a:cs typeface="Arial"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0B6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13.37</a:t>
                      </a:r>
                      <a:endParaRPr lang="en-US" sz="1400" dirty="0">
                        <a:latin typeface="Arial" charset="0"/>
                        <a:ea typeface="Arial" charset="0"/>
                        <a:cs typeface="Arial"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0B6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13.31</a:t>
                      </a:r>
                      <a:endParaRPr lang="en-US" sz="1400" dirty="0">
                        <a:latin typeface="Arial" charset="0"/>
                        <a:ea typeface="Arial" charset="0"/>
                        <a:cs typeface="Arial"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0B6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13.30</a:t>
                      </a:r>
                      <a:endParaRPr lang="en-US" sz="1400" dirty="0">
                        <a:latin typeface="Arial" charset="0"/>
                        <a:ea typeface="Arial" charset="0"/>
                        <a:cs typeface="Arial"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0B6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No real change</a:t>
                      </a:r>
                      <a:endParaRPr lang="en-US" sz="1400" dirty="0">
                        <a:latin typeface="Arial" charset="0"/>
                        <a:ea typeface="Arial" charset="0"/>
                        <a:cs typeface="Arial"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0B6B0"/>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extLst>
                  <a:ext uri="{0D108BD9-81ED-4DB2-BD59-A6C34878D82A}">
                    <a16:rowId xmlns:a16="http://schemas.microsoft.com/office/drawing/2014/main" val="10003"/>
                  </a:ext>
                </a:extLst>
              </a:tr>
              <a:tr h="379906">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4</a:t>
                      </a:r>
                      <a:endParaRPr lang="en-US" sz="1400" dirty="0">
                        <a:latin typeface="Arial" charset="0"/>
                        <a:ea typeface="Arial" charset="0"/>
                        <a:cs typeface="Arial"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C0B6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0B6B0"/>
                      </a:solidFill>
                      <a:prstDash val="solid"/>
                      <a:round/>
                      <a:headEnd type="none" w="med" len="med"/>
                      <a:tailEnd type="none" w="med" len="med"/>
                    </a:lnB>
                    <a:solidFill>
                      <a:srgbClr val="F1E4DC"/>
                    </a:solidFill>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20.67</a:t>
                      </a:r>
                      <a:endParaRPr lang="en-US" sz="1400" dirty="0">
                        <a:latin typeface="Arial" charset="0"/>
                        <a:ea typeface="Arial" charset="0"/>
                        <a:cs typeface="Arial" charset="0"/>
                      </a:endParaRPr>
                    </a:p>
                  </a:txBody>
                  <a:tcPr marL="62230" marR="62230" marT="62230" marB="62230">
                    <a:lnL w="12700" cap="flat" cmpd="sng" algn="ctr">
                      <a:solidFill>
                        <a:srgbClr val="C0B6B0"/>
                      </a:solidFill>
                      <a:prstDash val="solid"/>
                      <a:round/>
                      <a:headEnd type="none" w="med" len="med"/>
                      <a:tailEnd type="none" w="med" len="med"/>
                    </a:lnL>
                    <a:lnR w="12700" cap="flat" cmpd="sng" algn="ctr">
                      <a:solidFill>
                        <a:srgbClr val="C0B6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0B6B0"/>
                      </a:solidFill>
                      <a:prstDash val="solid"/>
                      <a:round/>
                      <a:headEnd type="none" w="med" len="med"/>
                      <a:tailEnd type="none" w="med" len="med"/>
                    </a:lnB>
                    <a:solidFill>
                      <a:srgbClr val="F1E4DC"/>
                    </a:solidFill>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21.72</a:t>
                      </a:r>
                      <a:endParaRPr lang="en-US" sz="1400" dirty="0">
                        <a:latin typeface="Arial" charset="0"/>
                        <a:ea typeface="Arial" charset="0"/>
                        <a:cs typeface="Arial" charset="0"/>
                      </a:endParaRPr>
                    </a:p>
                  </a:txBody>
                  <a:tcPr marL="62230" marR="62230" marT="62230" marB="62230">
                    <a:lnL w="12700" cap="flat" cmpd="sng" algn="ctr">
                      <a:solidFill>
                        <a:srgbClr val="C0B6B0"/>
                      </a:solidFill>
                      <a:prstDash val="solid"/>
                      <a:round/>
                      <a:headEnd type="none" w="med" len="med"/>
                      <a:tailEnd type="none" w="med" len="med"/>
                    </a:lnL>
                    <a:lnR w="12700" cap="flat" cmpd="sng" algn="ctr">
                      <a:solidFill>
                        <a:srgbClr val="C0B6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0B6B0"/>
                      </a:solidFill>
                      <a:prstDash val="solid"/>
                      <a:round/>
                      <a:headEnd type="none" w="med" len="med"/>
                      <a:tailEnd type="none" w="med" len="med"/>
                    </a:lnB>
                    <a:solidFill>
                      <a:srgbClr val="F1E4DC"/>
                    </a:solidFill>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22.76</a:t>
                      </a:r>
                      <a:endParaRPr lang="en-US" sz="1400" dirty="0">
                        <a:latin typeface="Arial" charset="0"/>
                        <a:ea typeface="Arial" charset="0"/>
                        <a:cs typeface="Arial" charset="0"/>
                      </a:endParaRPr>
                    </a:p>
                  </a:txBody>
                  <a:tcPr marL="62230" marR="62230" marT="62230" marB="62230">
                    <a:lnL w="12700" cap="flat" cmpd="sng" algn="ctr">
                      <a:solidFill>
                        <a:srgbClr val="C0B6B0"/>
                      </a:solidFill>
                      <a:prstDash val="solid"/>
                      <a:round/>
                      <a:headEnd type="none" w="med" len="med"/>
                      <a:tailEnd type="none" w="med" len="med"/>
                    </a:lnL>
                    <a:lnR w="12700" cap="flat" cmpd="sng" algn="ctr">
                      <a:solidFill>
                        <a:srgbClr val="C0B6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0B6B0"/>
                      </a:solidFill>
                      <a:prstDash val="solid"/>
                      <a:round/>
                      <a:headEnd type="none" w="med" len="med"/>
                      <a:tailEnd type="none" w="med" len="med"/>
                    </a:lnB>
                    <a:solidFill>
                      <a:srgbClr val="F1E4DC"/>
                    </a:solidFill>
                  </a:tcPr>
                </a:tc>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Worse (+10%): Gompertz cut, high-side spread lost</a:t>
                      </a:r>
                      <a:endParaRPr lang="en-US" sz="1400" dirty="0">
                        <a:latin typeface="Arial" charset="0"/>
                        <a:ea typeface="Arial" charset="0"/>
                        <a:cs typeface="Arial" charset="0"/>
                      </a:endParaRPr>
                    </a:p>
                  </a:txBody>
                  <a:tcPr marL="62230" marR="62230" marT="62230" marB="62230">
                    <a:lnL w="12700" cap="flat" cmpd="sng" algn="ctr">
                      <a:solidFill>
                        <a:srgbClr val="C0B6B0"/>
                      </a:solidFill>
                      <a:prstDash val="solid"/>
                      <a:round/>
                      <a:headEnd type="none" w="med" len="med"/>
                      <a:tailEnd type="none" w="med" len="med"/>
                    </a:lnL>
                    <a:lnR w="12700" cap="flat" cmpd="sng" algn="ctr">
                      <a:solidFill>
                        <a:srgbClr val="C0B6B0"/>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0B6B0"/>
                      </a:solidFill>
                      <a:prstDash val="solid"/>
                      <a:round/>
                      <a:headEnd type="none" w="med" len="med"/>
                      <a:tailEnd type="none" w="med" len="med"/>
                    </a:lnB>
                    <a:solidFill>
                      <a:srgbClr val="F1E4DC"/>
                    </a:solidFill>
                  </a:tcPr>
                </a:tc>
                <a:extLst>
                  <a:ext uri="{0D108BD9-81ED-4DB2-BD59-A6C34878D82A}">
                    <a16:rowId xmlns:a16="http://schemas.microsoft.com/office/drawing/2014/main" val="10004"/>
                  </a:ext>
                </a:extLst>
              </a:tr>
              <a:tr h="379906">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5</a:t>
                      </a:r>
                      <a:endParaRPr lang="en-US" sz="1400" dirty="0">
                        <a:latin typeface="Arial" charset="0"/>
                        <a:ea typeface="Arial" charset="0"/>
                        <a:cs typeface="Arial" charset="0"/>
                      </a:endParaRPr>
                    </a:p>
                  </a:txBody>
                  <a:tcPr marL="62230" marR="62230" marT="62230" marB="62230">
                    <a:lnL w="12700" cap="flat" cmpd="sng" algn="ctr">
                      <a:solidFill>
                        <a:srgbClr val="C4C4BF"/>
                      </a:solidFill>
                      <a:prstDash val="solid"/>
                      <a:round/>
                      <a:headEnd type="none" w="med" len="med"/>
                      <a:tailEnd type="none" w="med" len="med"/>
                    </a:lnL>
                    <a:lnR w="12700" cap="flat" cmpd="sng" algn="ctr">
                      <a:solidFill>
                        <a:srgbClr val="B1B8BF"/>
                      </a:solidFill>
                      <a:prstDash val="solid"/>
                      <a:round/>
                      <a:headEnd type="none" w="med" len="med"/>
                      <a:tailEnd type="none" w="med" len="med"/>
                    </a:lnR>
                    <a:lnT w="12700" cap="flat" cmpd="sng" algn="ctr">
                      <a:solidFill>
                        <a:srgbClr val="C0B6B0"/>
                      </a:solidFill>
                      <a:prstDash val="solid"/>
                      <a:round/>
                      <a:headEnd type="none" w="med" len="med"/>
                      <a:tailEnd type="none" w="med" len="med"/>
                    </a:lnT>
                    <a:lnB w="12700" cap="flat" cmpd="sng" algn="ctr">
                      <a:solidFill>
                        <a:srgbClr val="B1B8BF"/>
                      </a:solidFill>
                      <a:prstDash val="solid"/>
                      <a:round/>
                      <a:headEnd type="none" w="med" len="med"/>
                      <a:tailEnd type="none" w="med" len="med"/>
                    </a:lnB>
                    <a:solidFill>
                      <a:srgbClr val="DDE6F0"/>
                    </a:solidFill>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32.92</a:t>
                      </a:r>
                      <a:endParaRPr lang="en-US" sz="1400" dirty="0">
                        <a:latin typeface="Arial" charset="0"/>
                        <a:ea typeface="Arial" charset="0"/>
                        <a:cs typeface="Arial" charset="0"/>
                      </a:endParaRPr>
                    </a:p>
                  </a:txBody>
                  <a:tcPr marL="62230" marR="62230" marT="62230" marB="62230">
                    <a:lnL w="12700" cap="flat" cmpd="sng" algn="ctr">
                      <a:solidFill>
                        <a:srgbClr val="B1B8BF"/>
                      </a:solidFill>
                      <a:prstDash val="solid"/>
                      <a:round/>
                      <a:headEnd type="none" w="med" len="med"/>
                      <a:tailEnd type="none" w="med" len="med"/>
                    </a:lnL>
                    <a:lnR w="12700" cap="flat" cmpd="sng" algn="ctr">
                      <a:solidFill>
                        <a:srgbClr val="B1B8BF"/>
                      </a:solidFill>
                      <a:prstDash val="solid"/>
                      <a:round/>
                      <a:headEnd type="none" w="med" len="med"/>
                      <a:tailEnd type="none" w="med" len="med"/>
                    </a:lnR>
                    <a:lnT w="12700" cap="flat" cmpd="sng" algn="ctr">
                      <a:solidFill>
                        <a:srgbClr val="C0B6B0"/>
                      </a:solidFill>
                      <a:prstDash val="solid"/>
                      <a:round/>
                      <a:headEnd type="none" w="med" len="med"/>
                      <a:tailEnd type="none" w="med" len="med"/>
                    </a:lnT>
                    <a:lnB w="12700" cap="flat" cmpd="sng" algn="ctr">
                      <a:solidFill>
                        <a:srgbClr val="B1B8BF"/>
                      </a:solidFill>
                      <a:prstDash val="solid"/>
                      <a:round/>
                      <a:headEnd type="none" w="med" len="med"/>
                      <a:tailEnd type="none" w="med" len="med"/>
                    </a:lnB>
                    <a:solidFill>
                      <a:srgbClr val="DDE6F0"/>
                    </a:solidFill>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31.74</a:t>
                      </a:r>
                      <a:endParaRPr lang="en-US" sz="1400" dirty="0">
                        <a:latin typeface="Arial" charset="0"/>
                        <a:ea typeface="Arial" charset="0"/>
                        <a:cs typeface="Arial" charset="0"/>
                      </a:endParaRPr>
                    </a:p>
                  </a:txBody>
                  <a:tcPr marL="62230" marR="62230" marT="62230" marB="62230">
                    <a:lnL w="12700" cap="flat" cmpd="sng" algn="ctr">
                      <a:solidFill>
                        <a:srgbClr val="B1B8BF"/>
                      </a:solidFill>
                      <a:prstDash val="solid"/>
                      <a:round/>
                      <a:headEnd type="none" w="med" len="med"/>
                      <a:tailEnd type="none" w="med" len="med"/>
                    </a:lnL>
                    <a:lnR w="12700" cap="flat" cmpd="sng" algn="ctr">
                      <a:solidFill>
                        <a:srgbClr val="B1B8BF"/>
                      </a:solidFill>
                      <a:prstDash val="solid"/>
                      <a:round/>
                      <a:headEnd type="none" w="med" len="med"/>
                      <a:tailEnd type="none" w="med" len="med"/>
                    </a:lnR>
                    <a:lnT w="12700" cap="flat" cmpd="sng" algn="ctr">
                      <a:solidFill>
                        <a:srgbClr val="C0B6B0"/>
                      </a:solidFill>
                      <a:prstDash val="solid"/>
                      <a:round/>
                      <a:headEnd type="none" w="med" len="med"/>
                      <a:tailEnd type="none" w="med" len="med"/>
                    </a:lnT>
                    <a:lnB w="12700" cap="flat" cmpd="sng" algn="ctr">
                      <a:solidFill>
                        <a:srgbClr val="B1B8BF"/>
                      </a:solidFill>
                      <a:prstDash val="solid"/>
                      <a:round/>
                      <a:headEnd type="none" w="med" len="med"/>
                      <a:tailEnd type="none" w="med" len="med"/>
                    </a:lnB>
                    <a:solidFill>
                      <a:srgbClr val="DDE6F0"/>
                    </a:solidFill>
                  </a:tcPr>
                </a:tc>
                <a:tc>
                  <a:txBody>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rPr>
                        <a:t>30.88</a:t>
                      </a:r>
                      <a:endParaRPr lang="en-US" sz="1400" dirty="0">
                        <a:latin typeface="Arial" charset="0"/>
                        <a:ea typeface="Arial" charset="0"/>
                        <a:cs typeface="Arial" charset="0"/>
                      </a:endParaRPr>
                    </a:p>
                  </a:txBody>
                  <a:tcPr marL="62230" marR="62230" marT="62230" marB="62230">
                    <a:lnL w="12700" cap="flat" cmpd="sng" algn="ctr">
                      <a:solidFill>
                        <a:srgbClr val="B1B8BF"/>
                      </a:solidFill>
                      <a:prstDash val="solid"/>
                      <a:round/>
                      <a:headEnd type="none" w="med" len="med"/>
                      <a:tailEnd type="none" w="med" len="med"/>
                    </a:lnL>
                    <a:lnR w="12700" cap="flat" cmpd="sng" algn="ctr">
                      <a:solidFill>
                        <a:srgbClr val="B1B8BF"/>
                      </a:solidFill>
                      <a:prstDash val="solid"/>
                      <a:round/>
                      <a:headEnd type="none" w="med" len="med"/>
                      <a:tailEnd type="none" w="med" len="med"/>
                    </a:lnR>
                    <a:lnT w="12700" cap="flat" cmpd="sng" algn="ctr">
                      <a:solidFill>
                        <a:srgbClr val="C0B6B0"/>
                      </a:solidFill>
                      <a:prstDash val="solid"/>
                      <a:round/>
                      <a:headEnd type="none" w="med" len="med"/>
                      <a:tailEnd type="none" w="med" len="med"/>
                    </a:lnT>
                    <a:lnB w="12700" cap="flat" cmpd="sng" algn="ctr">
                      <a:solidFill>
                        <a:srgbClr val="B1B8BF"/>
                      </a:solidFill>
                      <a:prstDash val="solid"/>
                      <a:round/>
                      <a:headEnd type="none" w="med" len="med"/>
                      <a:tailEnd type="none" w="med" len="med"/>
                    </a:lnB>
                    <a:solidFill>
                      <a:srgbClr val="DDE6F0"/>
                    </a:solidFill>
                  </a:tcPr>
                </a:tc>
                <a:tc>
                  <a:txBody>
                    <a:bodyPr/>
                    <a:lstStyle/>
                    <a:p>
                      <a:pPr marL="0" indent="0">
                        <a:lnSpc>
                          <a:spcPts val="1960"/>
                        </a:lnSpc>
                        <a:buNone/>
                      </a:pPr>
                      <a:r>
                        <a:rPr lang="en-US" sz="1400" dirty="0">
                          <a:solidFill>
                            <a:srgbClr val="14213D"/>
                          </a:solidFill>
                          <a:latin typeface="Arial" pitchFamily="34" charset="0"/>
                          <a:ea typeface="Arial" pitchFamily="34" charset="-122"/>
                          <a:cs typeface="Arial" pitchFamily="34" charset="-120"/>
                        </a:rPr>
                        <a:t>Better (−6%): Gompertz up-weighted toward truth</a:t>
                      </a:r>
                      <a:endParaRPr lang="en-US" sz="1400" dirty="0">
                        <a:latin typeface="Arial" charset="0"/>
                        <a:ea typeface="Arial" charset="0"/>
                        <a:cs typeface="Arial" charset="0"/>
                      </a:endParaRPr>
                    </a:p>
                  </a:txBody>
                  <a:tcPr marL="62230" marR="62230" marT="62230" marB="62230">
                    <a:lnL w="12700" cap="flat" cmpd="sng" algn="ctr">
                      <a:solidFill>
                        <a:srgbClr val="B1B8BF"/>
                      </a:solidFill>
                      <a:prstDash val="solid"/>
                      <a:round/>
                      <a:headEnd type="none" w="med" len="med"/>
                      <a:tailEnd type="none" w="med" len="med"/>
                    </a:lnL>
                    <a:lnR w="12700" cap="flat" cmpd="sng" algn="ctr">
                      <a:solidFill>
                        <a:srgbClr val="B1B8BF"/>
                      </a:solidFill>
                      <a:prstDash val="solid"/>
                      <a:round/>
                      <a:headEnd type="none" w="med" len="med"/>
                      <a:tailEnd type="none" w="med" len="med"/>
                    </a:lnR>
                    <a:lnT w="12700" cap="flat" cmpd="sng" algn="ctr">
                      <a:solidFill>
                        <a:srgbClr val="C0B6B0"/>
                      </a:solidFill>
                      <a:prstDash val="solid"/>
                      <a:round/>
                      <a:headEnd type="none" w="med" len="med"/>
                      <a:tailEnd type="none" w="med" len="med"/>
                    </a:lnT>
                    <a:lnB w="12700" cap="flat" cmpd="sng" algn="ctr">
                      <a:solidFill>
                        <a:srgbClr val="B1B8BF"/>
                      </a:solidFill>
                      <a:prstDash val="solid"/>
                      <a:round/>
                      <a:headEnd type="none" w="med" len="med"/>
                      <a:tailEnd type="none" w="med" len="med"/>
                    </a:lnB>
                    <a:solidFill>
                      <a:srgbClr val="DDE6F0"/>
                    </a:solidFill>
                  </a:tcPr>
                </a:tc>
                <a:extLst>
                  <a:ext uri="{0D108BD9-81ED-4DB2-BD59-A6C34878D82A}">
                    <a16:rowId xmlns:a16="http://schemas.microsoft.com/office/drawing/2014/main" val="10005"/>
                  </a:ext>
                </a:extLst>
              </a:tr>
            </a:tbl>
          </a:graphicData>
        </a:graphic>
      </p:graphicFrame>
      <p:sp>
        <p:nvSpPr>
          <p:cNvPr id="5" name="Text 2"/>
          <p:cNvSpPr/>
          <p:nvPr/>
        </p:nvSpPr>
        <p:spPr>
          <a:xfrm>
            <a:off x="812713" y="4334328"/>
            <a:ext cx="11379287" cy="292096"/>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A4250"/>
                </a:solidFill>
                <a:latin typeface="Arial" pitchFamily="34" charset="0"/>
                <a:ea typeface="Arial" pitchFamily="34" charset="-122"/>
                <a:cs typeface="Arial" pitchFamily="34" charset="-120"/>
              </a:rPr>
              <a:t>Lesson: past forecast skill is </a:t>
            </a:r>
            <a:r>
              <a:rPr lang="en-US" sz="1500" b="1" dirty="0">
                <a:solidFill>
                  <a:srgbClr val="3A4250"/>
                </a:solidFill>
                <a:latin typeface="Arial" pitchFamily="34" charset="0"/>
                <a:ea typeface="Arial" pitchFamily="34" charset="-122"/>
                <a:cs typeface="Arial" pitchFamily="34" charset="-120"/>
              </a:rPr>
              <a:t>lagged</a:t>
            </a:r>
            <a:r>
              <a:rPr lang="en-US" sz="1500" dirty="0">
                <a:solidFill>
                  <a:srgbClr val="3A4250"/>
                </a:solidFill>
                <a:latin typeface="Arial" pitchFamily="34" charset="0"/>
                <a:ea typeface="Arial" pitchFamily="34" charset="-122"/>
                <a:cs typeface="Arial" pitchFamily="34" charset="-120"/>
              </a:rPr>
              <a:t> information, and inverse-score weights cannot see </a:t>
            </a:r>
            <a:r>
              <a:rPr lang="en-US" sz="1500" b="1" dirty="0">
                <a:solidFill>
                  <a:srgbClr val="3A4250"/>
                </a:solidFill>
                <a:latin typeface="Arial" pitchFamily="34" charset="0"/>
                <a:ea typeface="Arial" pitchFamily="34" charset="-122"/>
                <a:cs typeface="Arial" pitchFamily="34" charset="-120"/>
              </a:rPr>
              <a:t>which direction</a:t>
            </a:r>
            <a:r>
              <a:rPr lang="en-US" sz="1500" dirty="0">
                <a:solidFill>
                  <a:srgbClr val="3A4250"/>
                </a:solidFill>
                <a:latin typeface="Arial" pitchFamily="34" charset="0"/>
                <a:ea typeface="Arial" pitchFamily="34" charset="-122"/>
                <a:cs typeface="Arial" pitchFamily="34" charset="-120"/>
              </a:rPr>
              <a:t> a model errs.</a:t>
            </a:r>
            <a:endParaRPr lang="en-US" sz="1500" dirty="0"/>
          </a:p>
        </p:txBody>
      </p:sp>
      <p:sp>
        <p:nvSpPr>
          <p:cNvPr id="6" name="Text 3"/>
          <p:cNvSpPr/>
          <p:nvPr/>
        </p:nvSpPr>
        <p:spPr>
          <a:xfrm>
            <a:off x="812713" y="6238242"/>
            <a:ext cx="3476063"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JCF ensemble forecasting · AMS Fall 2026</a:t>
            </a:r>
            <a:endParaRPr lang="en-US" sz="1200" dirty="0"/>
          </a:p>
        </p:txBody>
      </p:sp>
      <p:sp>
        <p:nvSpPr>
          <p:cNvPr id="7" name="Text 4"/>
          <p:cNvSpPr/>
          <p:nvPr/>
        </p:nvSpPr>
        <p:spPr>
          <a:xfrm>
            <a:off x="11158673" y="6238242"/>
            <a:ext cx="220354"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Arial" pitchFamily="34" charset="0"/>
                <a:ea typeface="Arial" pitchFamily="34" charset="-122"/>
                <a:cs typeface="Arial"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713" y="812713"/>
            <a:ext cx="10883519" cy="238778"/>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8935F"/>
                </a:solidFill>
                <a:latin typeface="Arial" pitchFamily="34" charset="0"/>
                <a:ea typeface="Arial" pitchFamily="34" charset="-122"/>
                <a:cs typeface="Arial" pitchFamily="34" charset="-120"/>
              </a:rPr>
              <a:t>TAKEAWAYS</a:t>
            </a:r>
            <a:endParaRPr lang="en-US" sz="1200" dirty="0"/>
          </a:p>
        </p:txBody>
      </p:sp>
      <p:sp>
        <p:nvSpPr>
          <p:cNvPr id="3" name="Text 1"/>
          <p:cNvSpPr>
            <a:spLocks noGrp="1"/>
          </p:cNvSpPr>
          <p:nvPr>
            <p:ph type="title"/>
          </p:nvPr>
        </p:nvSpPr>
        <p:spPr>
          <a:xfrm>
            <a:off x="812713" y="1102258"/>
            <a:ext cx="10883519" cy="463424"/>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F6F5F0"/>
                </a:solidFill>
                <a:latin typeface="Georgia" pitchFamily="18" charset="0"/>
                <a:ea typeface="Georgia" pitchFamily="18" charset="-122"/>
                <a:cs typeface="Georgia" pitchFamily="18" charset="-120"/>
              </a:rPr>
              <a:t>Four lessons from one outbreak</a:t>
            </a:r>
            <a:endParaRPr lang="en-US" sz="3000" dirty="0"/>
          </a:p>
        </p:txBody>
      </p:sp>
      <p:sp>
        <p:nvSpPr>
          <p:cNvPr id="4" name="Shape 2"/>
          <p:cNvSpPr/>
          <p:nvPr/>
        </p:nvSpPr>
        <p:spPr>
          <a:xfrm>
            <a:off x="812713" y="1845066"/>
            <a:ext cx="5181686" cy="1523694"/>
          </a:xfrm>
          <a:prstGeom prst="roundRect">
            <a:avLst>
              <a:gd name="adj" fmla="val 6668"/>
            </a:avLst>
          </a:prstGeom>
          <a:solidFill>
            <a:srgbClr val="1F2F52"/>
          </a:solidFill>
          <a:ln/>
        </p:spPr>
        <p:txBody>
          <a:bodyPr/>
          <a:lstStyle/>
          <a:p>
            <a:endParaRPr lang="en-US"/>
          </a:p>
        </p:txBody>
      </p:sp>
      <p:sp>
        <p:nvSpPr>
          <p:cNvPr id="5" name="Text 3"/>
          <p:cNvSpPr/>
          <p:nvPr/>
        </p:nvSpPr>
        <p:spPr>
          <a:xfrm>
            <a:off x="1066680" y="2099028"/>
            <a:ext cx="4813965" cy="416575"/>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8935F"/>
                </a:solidFill>
                <a:latin typeface="Georgia" pitchFamily="18" charset="0"/>
                <a:ea typeface="Georgia" pitchFamily="18" charset="-122"/>
                <a:cs typeface="Georgia" pitchFamily="18" charset="-120"/>
              </a:rPr>
              <a:t>1</a:t>
            </a:r>
            <a:endParaRPr lang="en-US" sz="2200" dirty="0"/>
          </a:p>
        </p:txBody>
      </p:sp>
      <p:sp>
        <p:nvSpPr>
          <p:cNvPr id="6" name="Text 4"/>
          <p:cNvSpPr/>
          <p:nvPr/>
        </p:nvSpPr>
        <p:spPr>
          <a:xfrm>
            <a:off x="1066680" y="2566374"/>
            <a:ext cx="4813965" cy="573817"/>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6F5F0"/>
                </a:solidFill>
                <a:latin typeface="Arial" pitchFamily="34" charset="0"/>
                <a:ea typeface="Arial" pitchFamily="34" charset="-122"/>
                <a:cs typeface="Arial" pitchFamily="34" charset="-120"/>
              </a:rPr>
              <a:t>The ensemble is the safer bet: lowest overall WIS, best coverage, never the worst.</a:t>
            </a:r>
            <a:endParaRPr lang="en-US" sz="1600" dirty="0"/>
          </a:p>
        </p:txBody>
      </p:sp>
      <p:sp>
        <p:nvSpPr>
          <p:cNvPr id="7" name="Shape 5"/>
          <p:cNvSpPr/>
          <p:nvPr/>
        </p:nvSpPr>
        <p:spPr>
          <a:xfrm>
            <a:off x="6197551" y="1845066"/>
            <a:ext cx="5181686" cy="1523694"/>
          </a:xfrm>
          <a:prstGeom prst="roundRect">
            <a:avLst>
              <a:gd name="adj" fmla="val 6668"/>
            </a:avLst>
          </a:prstGeom>
          <a:solidFill>
            <a:srgbClr val="1F2F52"/>
          </a:solidFill>
          <a:ln/>
        </p:spPr>
        <p:txBody>
          <a:bodyPr/>
          <a:lstStyle/>
          <a:p>
            <a:endParaRPr lang="en-US"/>
          </a:p>
        </p:txBody>
      </p:sp>
      <p:sp>
        <p:nvSpPr>
          <p:cNvPr id="8" name="Text 6"/>
          <p:cNvSpPr/>
          <p:nvPr/>
        </p:nvSpPr>
        <p:spPr>
          <a:xfrm>
            <a:off x="6451517" y="2099028"/>
            <a:ext cx="4813965" cy="416575"/>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8935F"/>
                </a:solidFill>
                <a:latin typeface="Georgia" pitchFamily="18" charset="0"/>
                <a:ea typeface="Georgia" pitchFamily="18" charset="-122"/>
                <a:cs typeface="Georgia" pitchFamily="18" charset="-120"/>
              </a:rPr>
              <a:t>2</a:t>
            </a:r>
            <a:endParaRPr lang="en-US" sz="2200" dirty="0"/>
          </a:p>
        </p:txBody>
      </p:sp>
      <p:sp>
        <p:nvSpPr>
          <p:cNvPr id="9" name="Text 7"/>
          <p:cNvSpPr/>
          <p:nvPr/>
        </p:nvSpPr>
        <p:spPr>
          <a:xfrm>
            <a:off x="6451517" y="2566374"/>
            <a:ext cx="4813965" cy="573817"/>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6F5F0"/>
                </a:solidFill>
                <a:latin typeface="Arial" pitchFamily="34" charset="0"/>
                <a:ea typeface="Arial" pitchFamily="34" charset="-122"/>
                <a:cs typeface="Arial" pitchFamily="34" charset="-120"/>
              </a:rPr>
              <a:t>JCF adapts the weights as intended, but ties calibration-only here (within 1.3%).</a:t>
            </a:r>
            <a:endParaRPr lang="en-US" sz="1600" dirty="0"/>
          </a:p>
        </p:txBody>
      </p:sp>
      <p:sp>
        <p:nvSpPr>
          <p:cNvPr id="10" name="Shape 8"/>
          <p:cNvSpPr/>
          <p:nvPr/>
        </p:nvSpPr>
        <p:spPr>
          <a:xfrm>
            <a:off x="812713" y="3571912"/>
            <a:ext cx="5181686" cy="1797902"/>
          </a:xfrm>
          <a:prstGeom prst="roundRect">
            <a:avLst>
              <a:gd name="adj" fmla="val 5651"/>
            </a:avLst>
          </a:prstGeom>
          <a:solidFill>
            <a:srgbClr val="1F2F52"/>
          </a:solidFill>
          <a:ln/>
        </p:spPr>
        <p:txBody>
          <a:bodyPr/>
          <a:lstStyle/>
          <a:p>
            <a:endParaRPr lang="en-US"/>
          </a:p>
        </p:txBody>
      </p:sp>
      <p:sp>
        <p:nvSpPr>
          <p:cNvPr id="11" name="Text 9"/>
          <p:cNvSpPr/>
          <p:nvPr/>
        </p:nvSpPr>
        <p:spPr>
          <a:xfrm>
            <a:off x="1066680" y="3825875"/>
            <a:ext cx="4813965" cy="416575"/>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8935F"/>
                </a:solidFill>
                <a:latin typeface="Georgia" pitchFamily="18" charset="0"/>
                <a:ea typeface="Georgia" pitchFamily="18" charset="-122"/>
                <a:cs typeface="Georgia" pitchFamily="18" charset="-120"/>
              </a:rPr>
              <a:t>3</a:t>
            </a:r>
            <a:endParaRPr lang="en-US" sz="2200" dirty="0"/>
          </a:p>
        </p:txBody>
      </p:sp>
      <p:sp>
        <p:nvSpPr>
          <p:cNvPr id="12" name="Text 10"/>
          <p:cNvSpPr/>
          <p:nvPr/>
        </p:nvSpPr>
        <p:spPr>
          <a:xfrm>
            <a:off x="1066680" y="4293220"/>
            <a:ext cx="4813965" cy="573817"/>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6F5F0"/>
                </a:solidFill>
                <a:latin typeface="Arial" pitchFamily="34" charset="0"/>
                <a:ea typeface="Arial" pitchFamily="34" charset="-122"/>
                <a:cs typeface="Arial" pitchFamily="34" charset="-120"/>
              </a:rPr>
              <a:t>Past forecast skill is lagged: it misleads exactly at turning points.</a:t>
            </a:r>
            <a:endParaRPr lang="en-US" sz="1600" dirty="0"/>
          </a:p>
        </p:txBody>
      </p:sp>
      <p:sp>
        <p:nvSpPr>
          <p:cNvPr id="13" name="Shape 11"/>
          <p:cNvSpPr/>
          <p:nvPr/>
        </p:nvSpPr>
        <p:spPr>
          <a:xfrm>
            <a:off x="6197551" y="3571912"/>
            <a:ext cx="5181686" cy="1797902"/>
          </a:xfrm>
          <a:prstGeom prst="roundRect">
            <a:avLst>
              <a:gd name="adj" fmla="val 5651"/>
            </a:avLst>
          </a:prstGeom>
          <a:solidFill>
            <a:srgbClr val="1F2F52"/>
          </a:solidFill>
          <a:ln/>
        </p:spPr>
        <p:txBody>
          <a:bodyPr/>
          <a:lstStyle/>
          <a:p>
            <a:endParaRPr lang="en-US"/>
          </a:p>
        </p:txBody>
      </p:sp>
      <p:sp>
        <p:nvSpPr>
          <p:cNvPr id="14" name="Text 12"/>
          <p:cNvSpPr/>
          <p:nvPr/>
        </p:nvSpPr>
        <p:spPr>
          <a:xfrm>
            <a:off x="6451517" y="3825875"/>
            <a:ext cx="4813965" cy="416575"/>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8935F"/>
                </a:solidFill>
                <a:latin typeface="Georgia" pitchFamily="18" charset="0"/>
                <a:ea typeface="Georgia" pitchFamily="18" charset="-122"/>
                <a:cs typeface="Georgia" pitchFamily="18" charset="-120"/>
              </a:rPr>
              <a:t>4</a:t>
            </a:r>
            <a:endParaRPr lang="en-US" sz="2200" dirty="0"/>
          </a:p>
        </p:txBody>
      </p:sp>
      <p:sp>
        <p:nvSpPr>
          <p:cNvPr id="15" name="Text 13"/>
          <p:cNvSpPr/>
          <p:nvPr/>
        </p:nvSpPr>
        <p:spPr>
          <a:xfrm>
            <a:off x="6451517" y="4293220"/>
            <a:ext cx="4813965" cy="848026"/>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6F5F0"/>
                </a:solidFill>
                <a:latin typeface="Arial" pitchFamily="34" charset="0"/>
                <a:ea typeface="Arial" pitchFamily="34" charset="-122"/>
                <a:cs typeface="Arial" pitchFamily="34" charset="-120"/>
              </a:rPr>
              <a:t>Inverse-score weights ignore error direction; a "bad" model erring the other way can be the most useful member.</a:t>
            </a:r>
            <a:endParaRPr lang="en-US" sz="1600" dirty="0"/>
          </a:p>
        </p:txBody>
      </p:sp>
      <p:sp>
        <p:nvSpPr>
          <p:cNvPr id="16" name="Text 14"/>
          <p:cNvSpPr/>
          <p:nvPr/>
        </p:nvSpPr>
        <p:spPr>
          <a:xfrm>
            <a:off x="812713" y="6238242"/>
            <a:ext cx="3476063"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8BC"/>
                </a:solidFill>
                <a:latin typeface="Arial" pitchFamily="34" charset="0"/>
                <a:ea typeface="Arial" pitchFamily="34" charset="-122"/>
                <a:cs typeface="Arial" pitchFamily="34" charset="-120"/>
              </a:rPr>
              <a:t>JCF ensemble forecasting · AMS Fall 2026</a:t>
            </a:r>
            <a:endParaRPr lang="en-US" sz="1200" dirty="0"/>
          </a:p>
        </p:txBody>
      </p:sp>
      <p:sp>
        <p:nvSpPr>
          <p:cNvPr id="17" name="Text 15"/>
          <p:cNvSpPr/>
          <p:nvPr/>
        </p:nvSpPr>
        <p:spPr>
          <a:xfrm>
            <a:off x="11158673" y="6238242"/>
            <a:ext cx="220354"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AA8BC"/>
                </a:solidFill>
                <a:latin typeface="Arial" pitchFamily="34" charset="0"/>
                <a:ea typeface="Arial" pitchFamily="34" charset="-122"/>
                <a:cs typeface="Arial"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0"/>
        </a:solidFill>
        <a:effectLst/>
      </p:bgPr>
    </p:bg>
    <p:spTree>
      <p:nvGrpSpPr>
        <p:cNvPr id="1" name=""/>
        <p:cNvGrpSpPr/>
        <p:nvPr/>
      </p:nvGrpSpPr>
      <p:grpSpPr>
        <a:xfrm>
          <a:off x="0" y="0"/>
          <a:ext cx="0" cy="0"/>
          <a:chOff x="0" y="0"/>
          <a:chExt cx="0" cy="0"/>
        </a:xfrm>
      </p:grpSpPr>
      <p:sp>
        <p:nvSpPr>
          <p:cNvPr id="2" name="Text 0"/>
          <p:cNvSpPr/>
          <p:nvPr/>
        </p:nvSpPr>
        <p:spPr>
          <a:xfrm>
            <a:off x="812713" y="812713"/>
            <a:ext cx="10883519" cy="238778"/>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4A1A"/>
                </a:solidFill>
                <a:latin typeface="Arial" pitchFamily="34" charset="0"/>
                <a:ea typeface="Arial" pitchFamily="34" charset="-122"/>
                <a:cs typeface="Arial" pitchFamily="34" charset="-120"/>
              </a:rPr>
              <a:t>WRAP-UP</a:t>
            </a:r>
            <a:endParaRPr lang="en-US" sz="1200" dirty="0"/>
          </a:p>
        </p:txBody>
      </p:sp>
      <p:sp>
        <p:nvSpPr>
          <p:cNvPr id="3" name="Text 1"/>
          <p:cNvSpPr>
            <a:spLocks noGrp="1"/>
          </p:cNvSpPr>
          <p:nvPr>
            <p:ph type="title"/>
          </p:nvPr>
        </p:nvSpPr>
        <p:spPr>
          <a:xfrm>
            <a:off x="812713" y="1102258"/>
            <a:ext cx="10883519" cy="463424"/>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Limitations, next steps and the code</a:t>
            </a:r>
            <a:endParaRPr lang="en-US" sz="3000" dirty="0"/>
          </a:p>
        </p:txBody>
      </p:sp>
      <p:sp>
        <p:nvSpPr>
          <p:cNvPr id="4" name="Shape 2"/>
          <p:cNvSpPr/>
          <p:nvPr/>
        </p:nvSpPr>
        <p:spPr>
          <a:xfrm>
            <a:off x="815888" y="1797428"/>
            <a:ext cx="5175336" cy="2437111"/>
          </a:xfrm>
          <a:prstGeom prst="roundRect">
            <a:avLst>
              <a:gd name="adj" fmla="val 4039"/>
            </a:avLst>
          </a:prstGeom>
          <a:solidFill>
            <a:srgbClr val="FDFCF9"/>
          </a:solidFill>
          <a:ln w="6350">
            <a:solidFill>
              <a:srgbClr val="DCDDD6"/>
            </a:solidFill>
            <a:prstDash val="solid"/>
          </a:ln>
        </p:spPr>
        <p:txBody>
          <a:bodyPr/>
          <a:lstStyle/>
          <a:p>
            <a:endParaRPr lang="en-US"/>
          </a:p>
        </p:txBody>
      </p:sp>
      <p:sp>
        <p:nvSpPr>
          <p:cNvPr id="5" name="Text 3"/>
          <p:cNvSpPr/>
          <p:nvPr/>
        </p:nvSpPr>
        <p:spPr>
          <a:xfrm>
            <a:off x="1073357" y="2054895"/>
            <a:ext cx="4800209" cy="299713"/>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Limitations</a:t>
            </a:r>
            <a:endParaRPr lang="en-US" sz="1800" dirty="0"/>
          </a:p>
        </p:txBody>
      </p:sp>
      <p:sp>
        <p:nvSpPr>
          <p:cNvPr id="6" name="Text 4"/>
          <p:cNvSpPr/>
          <p:nvPr/>
        </p:nvSpPr>
        <p:spPr>
          <a:xfrm>
            <a:off x="1170639" y="2430729"/>
            <a:ext cx="4695307" cy="1571736"/>
          </a:xfrm>
          <a:prstGeom prst="rect">
            <a:avLst/>
          </a:prstGeom>
          <a:noFill/>
          <a:ln/>
        </p:spPr>
        <p:txBody>
          <a:bodyPr wrap="square" lIns="0" tIns="0" rIns="0" bIns="0" rtlCol="0" anchor="t">
            <a:normAutofit/>
          </a:bodyPr>
          <a:lstStyle/>
          <a:p>
            <a:pPr marL="156718" indent="-156718" algn="l">
              <a:lnSpc>
                <a:spcPts val="2030"/>
              </a:lnSpc>
              <a:buSzPct val="100000"/>
              <a:buChar char="•"/>
            </a:pPr>
            <a:r>
              <a:rPr lang="en-US" sz="1400" dirty="0">
                <a:solidFill>
                  <a:srgbClr val="3A4250"/>
                </a:solidFill>
                <a:latin typeface="Arial" pitchFamily="34" charset="0"/>
                <a:ea typeface="Arial" pitchFamily="34" charset="-122"/>
                <a:cs typeface="Arial" pitchFamily="34" charset="-120"/>
              </a:rPr>
              <a:t>One simulated outbreak, four informative windows</a:t>
            </a:r>
            <a:endParaRPr lang="en-US" sz="1400" dirty="0"/>
          </a:p>
          <a:p>
            <a:pPr marL="156718" indent="-156718" algn="l">
              <a:lnSpc>
                <a:spcPts val="2030"/>
              </a:lnSpc>
              <a:buSzPct val="100000"/>
              <a:buChar char="•"/>
            </a:pPr>
            <a:r>
              <a:rPr lang="en-US" sz="1400" dirty="0">
                <a:solidFill>
                  <a:srgbClr val="3A4250"/>
                </a:solidFill>
                <a:latin typeface="Arial" pitchFamily="34" charset="0"/>
                <a:ea typeface="Arial" pitchFamily="34" charset="-122"/>
                <a:cs typeface="Arial" pitchFamily="34" charset="-120"/>
              </a:rPr>
              <a:t>Some parameters hit their bounds (K before the peak, r late)</a:t>
            </a:r>
            <a:endParaRPr lang="en-US" sz="1400" dirty="0"/>
          </a:p>
          <a:p>
            <a:pPr marL="156718" indent="-156718" algn="l">
              <a:lnSpc>
                <a:spcPts val="2030"/>
              </a:lnSpc>
              <a:buSzPct val="100000"/>
              <a:buChar char="•"/>
            </a:pPr>
            <a:r>
              <a:rPr lang="en-US" sz="1400" dirty="0">
                <a:solidFill>
                  <a:srgbClr val="3A4250"/>
                </a:solidFill>
                <a:latin typeface="Arial" pitchFamily="34" charset="0"/>
                <a:ea typeface="Arial" pitchFamily="34" charset="-122"/>
                <a:cs typeface="Arial" pitchFamily="34" charset="-120"/>
              </a:rPr>
              <a:t>Each window restarts the cumulative count at the first observation</a:t>
            </a:r>
            <a:endParaRPr lang="en-US" sz="1400" dirty="0"/>
          </a:p>
          <a:p>
            <a:pPr marL="156718" indent="-156718" algn="l">
              <a:lnSpc>
                <a:spcPts val="2030"/>
              </a:lnSpc>
              <a:buSzPct val="100000"/>
              <a:buChar char="•"/>
            </a:pPr>
            <a:r>
              <a:rPr lang="en-US" sz="1400" dirty="0">
                <a:solidFill>
                  <a:srgbClr val="3A4250"/>
                </a:solidFill>
                <a:latin typeface="Arial" pitchFamily="34" charset="0"/>
                <a:ea typeface="Arial" pitchFamily="34" charset="-122"/>
                <a:cs typeface="Arial" pitchFamily="34" charset="-120"/>
              </a:rPr>
              <a:t>Least squares with normal errors on count data</a:t>
            </a:r>
            <a:endParaRPr lang="en-US" sz="1400" dirty="0"/>
          </a:p>
        </p:txBody>
      </p:sp>
      <p:sp>
        <p:nvSpPr>
          <p:cNvPr id="7" name="Shape 5"/>
          <p:cNvSpPr/>
          <p:nvPr/>
        </p:nvSpPr>
        <p:spPr>
          <a:xfrm>
            <a:off x="6200726" y="1797428"/>
            <a:ext cx="5175336" cy="2437111"/>
          </a:xfrm>
          <a:prstGeom prst="roundRect">
            <a:avLst>
              <a:gd name="adj" fmla="val 4039"/>
            </a:avLst>
          </a:prstGeom>
          <a:solidFill>
            <a:srgbClr val="FDFCF9"/>
          </a:solidFill>
          <a:ln w="6350">
            <a:solidFill>
              <a:srgbClr val="DCDDD6"/>
            </a:solidFill>
            <a:prstDash val="solid"/>
          </a:ln>
        </p:spPr>
        <p:txBody>
          <a:bodyPr/>
          <a:lstStyle/>
          <a:p>
            <a:endParaRPr lang="en-US"/>
          </a:p>
        </p:txBody>
      </p:sp>
      <p:sp>
        <p:nvSpPr>
          <p:cNvPr id="8" name="Text 6"/>
          <p:cNvSpPr/>
          <p:nvPr/>
        </p:nvSpPr>
        <p:spPr>
          <a:xfrm>
            <a:off x="6458195" y="2054895"/>
            <a:ext cx="4800209" cy="299713"/>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Next steps</a:t>
            </a:r>
            <a:endParaRPr lang="en-US" sz="1800" dirty="0"/>
          </a:p>
        </p:txBody>
      </p:sp>
      <p:sp>
        <p:nvSpPr>
          <p:cNvPr id="9" name="Text 7"/>
          <p:cNvSpPr/>
          <p:nvPr/>
        </p:nvSpPr>
        <p:spPr>
          <a:xfrm>
            <a:off x="6555477" y="2430729"/>
            <a:ext cx="4695307" cy="1056290"/>
          </a:xfrm>
          <a:prstGeom prst="rect">
            <a:avLst/>
          </a:prstGeom>
          <a:noFill/>
          <a:ln/>
        </p:spPr>
        <p:txBody>
          <a:bodyPr wrap="square" lIns="0" tIns="0" rIns="0" bIns="0" rtlCol="0" anchor="t">
            <a:normAutofit/>
          </a:bodyPr>
          <a:lstStyle/>
          <a:p>
            <a:pPr marL="156718" indent="-156718" algn="l">
              <a:lnSpc>
                <a:spcPts val="2030"/>
              </a:lnSpc>
              <a:buSzPct val="100000"/>
              <a:buChar char="•"/>
            </a:pPr>
            <a:r>
              <a:rPr lang="en-US" sz="1400" dirty="0">
                <a:solidFill>
                  <a:srgbClr val="3A4250"/>
                </a:solidFill>
                <a:latin typeface="Arial" pitchFamily="34" charset="0"/>
                <a:ea typeface="Arial" pitchFamily="34" charset="-122"/>
                <a:cs typeface="Arial" pitchFamily="34" charset="-120"/>
              </a:rPr>
              <a:t>Measles (Jalisco) and more outbreaks, more windows</a:t>
            </a:r>
            <a:endParaRPr lang="en-US" sz="1400" dirty="0"/>
          </a:p>
          <a:p>
            <a:pPr marL="156718" indent="-156718" algn="l">
              <a:lnSpc>
                <a:spcPts val="2030"/>
              </a:lnSpc>
              <a:buSzPct val="100000"/>
              <a:buChar char="•"/>
            </a:pPr>
            <a:r>
              <a:rPr lang="en-US" sz="1400" dirty="0">
                <a:solidFill>
                  <a:srgbClr val="3A4250"/>
                </a:solidFill>
                <a:latin typeface="Arial" pitchFamily="34" charset="0"/>
                <a:ea typeface="Arial" pitchFamily="34" charset="-122"/>
                <a:cs typeface="Arial" pitchFamily="34" charset="-120"/>
              </a:rPr>
              <a:t>Negative-binomial likelihood</a:t>
            </a:r>
            <a:endParaRPr lang="en-US" sz="1400" dirty="0"/>
          </a:p>
          <a:p>
            <a:pPr marL="156718" indent="-156718" algn="l">
              <a:lnSpc>
                <a:spcPts val="2030"/>
              </a:lnSpc>
              <a:buSzPct val="100000"/>
              <a:buChar char="•"/>
            </a:pPr>
            <a:r>
              <a:rPr lang="en-US" sz="1400" dirty="0">
                <a:solidFill>
                  <a:srgbClr val="3A4250"/>
                </a:solidFill>
                <a:latin typeface="Arial" pitchFamily="34" charset="0"/>
                <a:ea typeface="Arial" pitchFamily="34" charset="-122"/>
                <a:cs typeface="Arial" pitchFamily="34" charset="-120"/>
              </a:rPr>
              <a:t>Choose λ adaptively rather than fixing it</a:t>
            </a:r>
            <a:endParaRPr lang="en-US" sz="1400" dirty="0"/>
          </a:p>
          <a:p>
            <a:pPr marL="156718" indent="-156718" algn="l">
              <a:lnSpc>
                <a:spcPts val="2030"/>
              </a:lnSpc>
              <a:buSzPct val="100000"/>
              <a:buChar char="•"/>
            </a:pPr>
            <a:r>
              <a:rPr lang="en-US" sz="1400" dirty="0">
                <a:solidFill>
                  <a:srgbClr val="3A4250"/>
                </a:solidFill>
                <a:latin typeface="Arial" pitchFamily="34" charset="0"/>
                <a:ea typeface="Arial" pitchFamily="34" charset="-122"/>
                <a:cs typeface="Arial" pitchFamily="34" charset="-120"/>
              </a:rPr>
              <a:t>Direction-aware or stacking weights</a:t>
            </a:r>
            <a:endParaRPr lang="en-US" sz="1400" dirty="0"/>
          </a:p>
        </p:txBody>
      </p:sp>
      <p:sp>
        <p:nvSpPr>
          <p:cNvPr id="10" name="Text 8"/>
          <p:cNvSpPr/>
          <p:nvPr/>
        </p:nvSpPr>
        <p:spPr>
          <a:xfrm>
            <a:off x="812713" y="4588086"/>
            <a:ext cx="1978559" cy="45205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14213D"/>
                </a:solidFill>
                <a:latin typeface="Georgia" pitchFamily="18" charset="0"/>
                <a:ea typeface="Georgia" pitchFamily="18" charset="-122"/>
                <a:cs typeface="Georgia" pitchFamily="18" charset="-120"/>
              </a:rPr>
              <a:t>Thank you</a:t>
            </a:r>
            <a:endParaRPr lang="en-US" sz="2400" dirty="0"/>
          </a:p>
        </p:txBody>
      </p:sp>
      <p:sp>
        <p:nvSpPr>
          <p:cNvPr id="11" name="Text 9"/>
          <p:cNvSpPr/>
          <p:nvPr/>
        </p:nvSpPr>
        <p:spPr>
          <a:xfrm>
            <a:off x="9585236" y="4491676"/>
            <a:ext cx="1794000" cy="663798"/>
          </a:xfrm>
          <a:prstGeom prst="rect">
            <a:avLst/>
          </a:prstGeom>
          <a:noFill/>
          <a:ln/>
        </p:spPr>
        <p:txBody>
          <a:bodyPr wrap="square" lIns="0" tIns="0" rIns="0" bIns="0" rtlCol="0" anchor="t">
            <a:normAutofit fontScale="77500" lnSpcReduction="20000"/>
          </a:bodyPr>
          <a:lstStyle/>
          <a:p>
            <a:pPr marL="0" indent="0" algn="r">
              <a:lnSpc>
                <a:spcPts val="1960"/>
              </a:lnSpc>
              <a:buNone/>
            </a:pPr>
            <a:r>
              <a:rPr lang="en-US" sz="1400" dirty="0">
                <a:solidFill>
                  <a:srgbClr val="14213D"/>
                </a:solidFill>
                <a:latin typeface="Arial" pitchFamily="34" charset="0"/>
                <a:ea typeface="Arial" pitchFamily="34" charset="-122"/>
                <a:cs typeface="Arial" pitchFamily="34" charset="-120"/>
                <a:hlinkClick r:id="rId3"/>
              </a:rPr>
              <a:t>rsubedi1@gsu.edu</a:t>
            </a:r>
            <a:endParaRPr lang="en-US" sz="1400" dirty="0">
              <a:solidFill>
                <a:srgbClr val="14213D"/>
              </a:solidFill>
              <a:latin typeface="Arial" pitchFamily="34" charset="0"/>
              <a:ea typeface="Arial" pitchFamily="34" charset="-122"/>
              <a:cs typeface="Arial" pitchFamily="34" charset="-120"/>
            </a:endParaRPr>
          </a:p>
          <a:p>
            <a:pPr marL="0" indent="0" algn="r">
              <a:lnSpc>
                <a:spcPts val="1960"/>
              </a:lnSpc>
              <a:buNone/>
            </a:pPr>
            <a:r>
              <a:rPr lang="en-US" sz="1400" dirty="0">
                <a:hlinkClick r:id="rId4"/>
              </a:rPr>
              <a:t>rajkumarsubedi@gmail.com</a:t>
            </a:r>
            <a:r>
              <a:rPr lang="en-US" sz="1400" dirty="0"/>
              <a:t> </a:t>
            </a:r>
          </a:p>
        </p:txBody>
      </p:sp>
      <p:sp>
        <p:nvSpPr>
          <p:cNvPr id="12" name="Text 10"/>
          <p:cNvSpPr/>
          <p:nvPr/>
        </p:nvSpPr>
        <p:spPr>
          <a:xfrm>
            <a:off x="7634224" y="5291608"/>
            <a:ext cx="4494015" cy="274254"/>
          </a:xfrm>
          <a:prstGeom prst="rect">
            <a:avLst/>
          </a:prstGeom>
          <a:noFill/>
          <a:ln/>
        </p:spPr>
        <p:txBody>
          <a:bodyPr wrap="square" lIns="0" tIns="0" rIns="0" bIns="0" rtlCol="0" anchor="t">
            <a:normAutofit/>
          </a:bodyPr>
          <a:lstStyle/>
          <a:p>
            <a:pPr>
              <a:lnSpc>
                <a:spcPts val="1960"/>
              </a:lnSpc>
            </a:pPr>
            <a:r>
              <a:rPr lang="en-US" sz="1400" dirty="0">
                <a:solidFill>
                  <a:srgbClr val="4A5262"/>
                </a:solidFill>
                <a:latin typeface="Arial" pitchFamily="34" charset="0"/>
                <a:ea typeface="Arial" pitchFamily="34" charset="-122"/>
                <a:cs typeface="Arial" pitchFamily="34" charset="-120"/>
              </a:rPr>
              <a:t>Code: </a:t>
            </a:r>
            <a:r>
              <a:rPr lang="en-US" sz="1400" dirty="0">
                <a:solidFill>
                  <a:srgbClr val="4A5262"/>
                </a:solidFill>
                <a:latin typeface="Arial" pitchFamily="34" charset="0"/>
                <a:ea typeface="Arial" pitchFamily="34" charset="-122"/>
                <a:cs typeface="Arial" pitchFamily="34" charset="-120"/>
                <a:hlinkClick r:id="rId5"/>
              </a:rPr>
              <a:t>https://github.com/rajsubediresearch/AMS-2026</a:t>
            </a:r>
            <a:r>
              <a:rPr lang="en-US" sz="1400" dirty="0">
                <a:solidFill>
                  <a:srgbClr val="4A5262"/>
                </a:solidFill>
                <a:latin typeface="Arial" pitchFamily="34" charset="0"/>
                <a:ea typeface="Arial" pitchFamily="34" charset="-122"/>
                <a:cs typeface="Arial" pitchFamily="34" charset="-120"/>
              </a:rPr>
              <a:t> </a:t>
            </a:r>
          </a:p>
        </p:txBody>
      </p:sp>
      <p:sp>
        <p:nvSpPr>
          <p:cNvPr id="13" name="Text 11"/>
          <p:cNvSpPr/>
          <p:nvPr/>
        </p:nvSpPr>
        <p:spPr>
          <a:xfrm>
            <a:off x="812713" y="6238242"/>
            <a:ext cx="3476063" cy="23877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JCF ensemble forecasting · AMS Fall 2026</a:t>
            </a:r>
            <a:endParaRPr lang="en-US" sz="1200" dirty="0"/>
          </a:p>
        </p:txBody>
      </p:sp>
      <p:sp>
        <p:nvSpPr>
          <p:cNvPr id="14" name="Text 12"/>
          <p:cNvSpPr/>
          <p:nvPr/>
        </p:nvSpPr>
        <p:spPr>
          <a:xfrm>
            <a:off x="11158673" y="6238242"/>
            <a:ext cx="220354" cy="238778"/>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Arial" pitchFamily="34" charset="0"/>
                <a:ea typeface="Arial" pitchFamily="34" charset="-122"/>
                <a:cs typeface="Arial" pitchFamily="34" charset="-120"/>
              </a:rPr>
              <a:t>15</a:t>
            </a:r>
            <a:endParaRPr lang="en-US" sz="1200" dirty="0"/>
          </a:p>
        </p:txBody>
      </p:sp>
    </p:spTree>
  </p:cSld>
  <p:clrMapOvr>
    <a:masterClrMapping/>
  </p:clrMapOvr>
</p:sld>
</file>

<file path=ppt/theme/theme1.xml><?xml version="1.0" encoding="utf-8"?>
<a:theme xmlns:a="http://schemas.openxmlformats.org/drawingml/2006/main" name="JCF Ensemble Forecasting — AMS Fall 2026">
  <a:themeElements>
    <a:clrScheme name="JCF Ensemble Forecasting — AMS Fall 2026">
      <a:dk1>
        <a:srgbClr val="14213D"/>
      </a:dk1>
      <a:lt1>
        <a:srgbClr val="F6F5F0"/>
      </a:lt1>
      <a:dk2>
        <a:srgbClr val="4D566A"/>
      </a:dk2>
      <a:lt2>
        <a:srgbClr val="DFE0DE"/>
      </a:lt2>
      <a:accent1>
        <a:srgbClr val="B54A1A"/>
      </a:accent1>
      <a:accent2>
        <a:srgbClr val="E8935F"/>
      </a:accent2>
      <a:accent3>
        <a:srgbClr val="2F6FB0"/>
      </a:accent3>
      <a:accent4>
        <a:srgbClr val="3A4250"/>
      </a:accent4>
      <a:accent5>
        <a:srgbClr val="6B7280"/>
      </a:accent5>
      <a:accent6>
        <a:srgbClr val="4A5262"/>
      </a:accent6>
      <a:hlink>
        <a:srgbClr val="0563C1"/>
      </a:hlink>
      <a:folHlink>
        <a:srgbClr val="954F72"/>
      </a:folHlink>
    </a:clrScheme>
    <a:fontScheme name="JCF Ensemble Forecasting — AMS Fall 2026">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3941</Words>
  <Application>Microsoft Office PowerPoint</Application>
  <PresentationFormat>Widescreen</PresentationFormat>
  <Paragraphs>291</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Courier New</vt:lpstr>
      <vt:lpstr>Georgia</vt:lpstr>
      <vt:lpstr>JCF Ensemble Forecasting — AMS Fall 2026</vt:lpstr>
      <vt:lpstr>A Joint Calibration–Forecast Weighting Scheme for Ensemble Forecasting of Outbreak Trajectories</vt:lpstr>
      <vt:lpstr>How should ensemble members be weighted?</vt:lpstr>
      <vt:lpstr>Three phenomenological growth models</vt:lpstr>
      <vt:lpstr>Simulated Ebola outbreak, five rolling windows</vt:lpstr>
      <vt:lpstr>Seven pipeline steps, one command each</vt:lpstr>
      <vt:lpstr>JCF: blend calibration and recent forecast skill</vt:lpstr>
      <vt:lpstr>No single model wins every window</vt:lpstr>
      <vt:lpstr>Window 2: calibration ends at the peak</vt:lpstr>
      <vt:lpstr>The ensemble beats every single model overall</vt:lpstr>
      <vt:lpstr>Late windows: members err in opposite directions</vt:lpstr>
      <vt:lpstr>JCF ties calibration-only on this outbreak</vt:lpstr>
      <vt:lpstr>JCF does move the weights as the epidemic turns</vt:lpstr>
      <vt:lpstr>Where JCF helps and where it hurts</vt:lpstr>
      <vt:lpstr>Four lessons from one outbreak</vt:lpstr>
      <vt:lpstr>Limitations, next steps and the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JCF Ensemble Forecasting — AMS Fall 2026</dc:title>
  <dc:subject/>
  <dc:creator>Raj Kumar Subedi</dc:creator>
  <cp:lastModifiedBy>Raj Kumar Subedi</cp:lastModifiedBy>
  <cp:revision>3</cp:revision>
  <dcterms:created xsi:type="dcterms:W3CDTF">2026-10-11T11:44:05Z</dcterms:created>
  <dcterms:modified xsi:type="dcterms:W3CDTF">2026-10-11T11:57:11Z</dcterms:modified>
</cp:coreProperties>
</file>